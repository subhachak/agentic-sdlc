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217303e0d74e36" /><Relationship Type="http://schemas.openxmlformats.org/officeDocument/2006/relationships/extended-properties" Target="/docProps/app.xml" Id="R16ce571a7abf4a52" /><Relationship Type="http://schemas.openxmlformats.org/officeDocument/2006/relationships/officeDocument" Target="/ppt/presentation.xml" Id="R9ac911d514e842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c4a1bccb5449d0"/>
  </p:sldMasterIdLst>
  <p:notesMasterIdLst>
    <p:notesMasterId xmlns:r="http://schemas.openxmlformats.org/officeDocument/2006/relationships" r:id="R58a40d0ae43842d0"/>
  </p:notesMasterIdLst>
  <p:sldIdLst>
    <p:sldId xmlns:r="http://schemas.openxmlformats.org/officeDocument/2006/relationships" id="256" r:id="R822a5b7237c14ded"/>
    <p:sldId xmlns:r="http://schemas.openxmlformats.org/officeDocument/2006/relationships" id="257" r:id="Rce7dd19496b14c31"/>
    <p:sldId xmlns:r="http://schemas.openxmlformats.org/officeDocument/2006/relationships" id="258" r:id="R58b99c6c97684200"/>
    <p:sldId xmlns:r="http://schemas.openxmlformats.org/officeDocument/2006/relationships" id="259" r:id="R7c32cf8cc3fb4ae5"/>
    <p:sldId xmlns:r="http://schemas.openxmlformats.org/officeDocument/2006/relationships" id="260" r:id="Rbebdc8f2deb546c7"/>
    <p:sldId xmlns:r="http://schemas.openxmlformats.org/officeDocument/2006/relationships" id="261" r:id="R763d354e91fd42df"/>
    <p:sldId xmlns:r="http://schemas.openxmlformats.org/officeDocument/2006/relationships" id="262" r:id="R7dcef5ee0c0b498a"/>
    <p:sldId xmlns:r="http://schemas.openxmlformats.org/officeDocument/2006/relationships" id="263" r:id="R8415af1c240642ff"/>
    <p:sldId xmlns:r="http://schemas.openxmlformats.org/officeDocument/2006/relationships" id="264" r:id="R1da73580bf7149af"/>
    <p:sldId xmlns:r="http://schemas.openxmlformats.org/officeDocument/2006/relationships" id="265" r:id="R8120a6b14fef45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78f85bcecb4506" /><Relationship Type="http://schemas.openxmlformats.org/officeDocument/2006/relationships/slideMaster" Target="/ppt/slideMasters/slideMaster1.xml" Id="R9ac4a1bccb5449d0" /><Relationship Type="http://schemas.openxmlformats.org/officeDocument/2006/relationships/notesMaster" Target="/ppt/notesMasters/notesMaster1.xml" Id="R58a40d0ae43842d0" /><Relationship Type="http://schemas.openxmlformats.org/officeDocument/2006/relationships/presProps" Target="/ppt/presProps.xml" Id="R41ad31d938354eae" /><Relationship Type="http://schemas.openxmlformats.org/officeDocument/2006/relationships/tableStyles" Target="/ppt/tableStyles.xml" Id="Rc8ce4cbc6e214701" /><Relationship Type="http://schemas.openxmlformats.org/officeDocument/2006/relationships/slide" Target="/ppt/slides/slide1.xml" Id="R822a5b7237c14ded" /><Relationship Type="http://schemas.openxmlformats.org/officeDocument/2006/relationships/slide" Target="/ppt/slides/slide2.xml" Id="Rce7dd19496b14c31" /><Relationship Type="http://schemas.openxmlformats.org/officeDocument/2006/relationships/slide" Target="/ppt/slides/slide3.xml" Id="R58b99c6c97684200" /><Relationship Type="http://schemas.openxmlformats.org/officeDocument/2006/relationships/slide" Target="/ppt/slides/slide4.xml" Id="R7c32cf8cc3fb4ae5" /><Relationship Type="http://schemas.openxmlformats.org/officeDocument/2006/relationships/slide" Target="/ppt/slides/slide5.xml" Id="Rbebdc8f2deb546c7" /><Relationship Type="http://schemas.openxmlformats.org/officeDocument/2006/relationships/slide" Target="/ppt/slides/slide6.xml" Id="R763d354e91fd42df" /><Relationship Type="http://schemas.openxmlformats.org/officeDocument/2006/relationships/slide" Target="/ppt/slides/slide7.xml" Id="R7dcef5ee0c0b498a" /><Relationship Type="http://schemas.openxmlformats.org/officeDocument/2006/relationships/slide" Target="/ppt/slides/slide8.xml" Id="R8415af1c240642ff" /><Relationship Type="http://schemas.openxmlformats.org/officeDocument/2006/relationships/slide" Target="/ppt/slides/slide9.xml" Id="R1da73580bf7149af" /><Relationship Type="http://schemas.openxmlformats.org/officeDocument/2006/relationships/slide" Target="/ppt/slides/slide10.xml" Id="R8120a6b14fef45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3e68db115c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f0b79033b946db" /><Relationship Type="http://schemas.openxmlformats.org/officeDocument/2006/relationships/notesMaster" Target="/ppt/notesMasters/notesMaster1.xml" Id="R4724c586716c40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a1a73547aa4631" /><Relationship Type="http://schemas.openxmlformats.org/officeDocument/2006/relationships/notesMaster" Target="/ppt/notesMasters/notesMaster1.xml" Id="R74a2f827337c4d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77f71ea3e34918" /><Relationship Type="http://schemas.openxmlformats.org/officeDocument/2006/relationships/notesMaster" Target="/ppt/notesMasters/notesMaster1.xml" Id="R65772089a29646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6aec902c2c43ad" /><Relationship Type="http://schemas.openxmlformats.org/officeDocument/2006/relationships/notesMaster" Target="/ppt/notesMasters/notesMaster1.xml" Id="Rd02ee104d9fa49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56196a8fe949ab" /><Relationship Type="http://schemas.openxmlformats.org/officeDocument/2006/relationships/notesMaster" Target="/ppt/notesMasters/notesMaster1.xml" Id="Rc5e35c942b2b45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a2445d43a4403d" /><Relationship Type="http://schemas.openxmlformats.org/officeDocument/2006/relationships/notesMaster" Target="/ppt/notesMasters/notesMaster1.xml" Id="R0c7c9c11b3a34b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eba0e94754898" /><Relationship Type="http://schemas.openxmlformats.org/officeDocument/2006/relationships/notesMaster" Target="/ppt/notesMasters/notesMaster1.xml" Id="R22b179ba4a4448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b22f906d1c4cc4" /><Relationship Type="http://schemas.openxmlformats.org/officeDocument/2006/relationships/notesMaster" Target="/ppt/notesMasters/notesMaster1.xml" Id="Rf33fbe5262d0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79d0af6343464d" /><Relationship Type="http://schemas.openxmlformats.org/officeDocument/2006/relationships/notesMaster" Target="/ppt/notesMasters/notesMaster1.xml" Id="Rbdefa12b853c4b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078ebe4e3b4e00" /><Relationship Type="http://schemas.openxmlformats.org/officeDocument/2006/relationships/notesMaster" Target="/ppt/notesMasters/notesMaster1.xml" Id="R3a4225586a7b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>- Figure 1 embedded from the reference architecture document.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>- Figure 2 embedded from the reference architecture document.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>- Figure 3 embedded from the reference architecture document.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>- Figure 4 embedded from the reference architecture document.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>- Figure 5 embedded from the reference architecture document.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>- Figures 6 and 7 embedded from the reference architecture document.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Agentic PDLC Solution Architecture, client-neutral reference document, 24 Aug 2026.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8e7be6abd40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b81dbc4a7e4e02" /><Relationship Type="http://schemas.openxmlformats.org/officeDocument/2006/relationships/slideLayout" Target="/ppt/slideLayouts/slideLayout1.xml" Id="R441630ad604345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1630ad604345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85637f6f14484" /><Relationship Type="http://schemas.openxmlformats.org/officeDocument/2006/relationships/notesSlide" Target="/ppt/notesSlides/notesSlide1.xml" Id="R456dffc755e146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9cdc18b8f4d02" /><Relationship Type="http://schemas.openxmlformats.org/officeDocument/2006/relationships/notesSlide" Target="/ppt/notesSlides/notesSlide2.xml" Id="R875c66c4ec444e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ca6357b114558" /><Relationship Type="http://schemas.openxmlformats.org/officeDocument/2006/relationships/image" Target="/ppt/media/image.png" Id="R50647a1c66be407e" /><Relationship Type="http://schemas.openxmlformats.org/officeDocument/2006/relationships/notesSlide" Target="/ppt/notesSlides/notesSlide3.xml" Id="Rde7c2d0d606544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22434fb1a4749" /><Relationship Type="http://schemas.openxmlformats.org/officeDocument/2006/relationships/image" Target="/ppt/media/image2.png" Id="Rf7cb755d1b324c20" /><Relationship Type="http://schemas.openxmlformats.org/officeDocument/2006/relationships/notesSlide" Target="/ppt/notesSlides/notesSlide4.xml" Id="R71806a389ea747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a96535495465d" /><Relationship Type="http://schemas.openxmlformats.org/officeDocument/2006/relationships/image" Target="/ppt/media/image3.png" Id="R21bde6b1cf604838" /><Relationship Type="http://schemas.openxmlformats.org/officeDocument/2006/relationships/notesSlide" Target="/ppt/notesSlides/notesSlide5.xml" Id="R91e4f503735746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8522d95024d88" /><Relationship Type="http://schemas.openxmlformats.org/officeDocument/2006/relationships/image" Target="/ppt/media/image4.png" Id="Rde5aca51a7624135" /><Relationship Type="http://schemas.openxmlformats.org/officeDocument/2006/relationships/notesSlide" Target="/ppt/notesSlides/notesSlide6.xml" Id="R766872b2359341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32f627a5349fc" /><Relationship Type="http://schemas.openxmlformats.org/officeDocument/2006/relationships/image" Target="/ppt/media/image5.png" Id="R9eb687cc65654abf" /><Relationship Type="http://schemas.openxmlformats.org/officeDocument/2006/relationships/notesSlide" Target="/ppt/notesSlides/notesSlide7.xml" Id="Rce5b9ea1204b4b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e48ac81bd4beb" /><Relationship Type="http://schemas.openxmlformats.org/officeDocument/2006/relationships/image" Target="/ppt/media/image6.png" Id="R78e8ff05e2d54593" /><Relationship Type="http://schemas.openxmlformats.org/officeDocument/2006/relationships/image" Target="/ppt/media/image7.png" Id="R5ff8d01304634411" /><Relationship Type="http://schemas.openxmlformats.org/officeDocument/2006/relationships/notesSlide" Target="/ppt/notesSlides/notesSlide8.xml" Id="Rf812efc5d0e749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a99a3f3f64afb" /><Relationship Type="http://schemas.openxmlformats.org/officeDocument/2006/relationships/notesSlide" Target="/ppt/notesSlides/notesSlide9.xml" Id="R93f29941b6d140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d96e787704a66" /><Relationship Type="http://schemas.openxmlformats.org/officeDocument/2006/relationships/notesSlide" Target="/ppt/notesSlides/notesSlide10.xml" Id="R1fa2bde30fb742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3FDB6-86EE-4A13-8F47-0B8D43C6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780A9-0C2A-48E7-BC70-1E619037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4B5"/>
                </a:solidFill>
              </a:defRPr>
            </a:pPr>
            <a:r>
              <a:rPr sz="1125" b="1">
                <a:solidFill>
                  <a:srgbClr val="2E74B5"/>
                </a:solidFill>
              </a:rPr>
              <a:t>REFERENCE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35CF8-1335-4FF6-94F1-F48F0B6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Agentic Product</a:t>
            </a:r>
          </a:p>
          <a:p xmlns:a="http://schemas.openxmlformats.org/drawingml/2006/main">
            <a:pPr algn="l">
              <a:defRPr sz="4200" b="1">
                <a:solidFill>
                  <a:srgbClr val="17365D"/>
                </a:solidFill>
              </a:defRPr>
            </a:pPr>
            <a:r>
              <a:rPr sz="4200" b="1">
                <a:solidFill>
                  <a:srgbClr val="17365D"/>
                </a:solidFill>
              </a:rPr>
              <a:t>Development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A033D-FBA1-4985-8299-B4F1B00D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474"/>
                </a:solidFill>
              </a:defRPr>
            </a:pPr>
            <a:r>
              <a:rPr sz="1875" b="0">
                <a:solidFill>
                  <a:srgbClr val="586474"/>
                </a:solidFill>
              </a:rPr>
              <a:t>A governed, client-extensible framework for AI-enabled software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79B3A-1E36-44DD-993D-5767513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7696E-2068-4BD4-850D-FD313B13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5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Principal AI Architecture perspective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422B7-D6A8-4ABD-8651-A20D4506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Control at the core. Client sovereignty at the edges.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96B1E-794E-4F4A-BFC8-ABA5D5E3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0550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6474"/>
                </a:solidFill>
              </a:defRPr>
            </a:pPr>
            <a:r>
              <a:rPr sz="1125" b="0">
                <a:solidFill>
                  <a:srgbClr val="586474"/>
                </a:solidFill>
              </a:rPr>
              <a:t>Solution architecture • governing philosophy • BYO capability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6E8DA-EA1A-44C3-9417-6297CC74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02870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8FB6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5DA60-98BB-4C9C-ADAE-A27EE956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04925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17365D"/>
                </a:solidFill>
              </a:defRPr>
            </a:pPr>
            <a:r>
              <a:rPr sz="3300" b="1">
                <a:solidFill>
                  <a:srgbClr val="17365D"/>
                </a:solidFill>
              </a:rPr>
              <a:t>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021373-33DC-4A4D-BAFE-DFCC8F7B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24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4B5"/>
                </a:solidFill>
              </a:defRPr>
            </a:pPr>
            <a:r>
              <a:rPr sz="1050" b="1">
                <a:solidFill>
                  <a:srgbClr val="2E74B5"/>
                </a:solidFill>
              </a:rPr>
              <a:t>GOVERNED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C3D95-8B54-4726-97BE-9855F27E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C1516-131B-48E6-B517-ED95E1EB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593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67F1D-014A-4D3F-AF0D-BDF5539A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ARCHITECTURAL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48B56-7E2C-413A-9B90-CD9C93CC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The framework governs decisions—not just agent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E36DE-0A92-4780-BAC9-501DABB7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A4579-E1A0-42CA-A3D1-EADB667A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</a:defRPr>
            </a:pPr>
            <a:r>
              <a:rPr sz="2100" b="1">
                <a:solidFill>
                  <a:srgbClr val="17365D"/>
                </a:solidFill>
              </a:rPr>
              <a:t>Agents create and execute bounded proposals. Deterministic policy, evidence, and accountable authority govern lifecycle progression.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8A9E0-202D-4F7A-B3F1-80A862A8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4574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B3F87-F783-42AD-8CD0-D9D94439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457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F7B82-9BA7-46B7-A1C6-A97B5E9E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DETERMINISTIC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CCA878-E4BE-424D-8956-04DBC094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Lifecycle state, identity, policy and gates remain independent of model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DE79A-36FE-4DE2-83E7-AD8F938F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24574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61825-4A8A-441D-876B-F847E689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2457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23989-884E-400E-8108-FE42A4FB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805E"/>
                </a:solidFill>
              </a:defRPr>
            </a:pPr>
            <a:r>
              <a:rPr sz="1500" b="1">
                <a:solidFill>
                  <a:srgbClr val="18805E"/>
                </a:solidFill>
              </a:rPr>
              <a:t>EVIDENCE-LINKED PROGRESSION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CB4084-3A96-4CD8-9995-F09AA981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528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phase completes only when version-bound evidence satisfies explicit obligations.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42434-C210-403E-8173-6B838A45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24574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F0C81-8B08-4D74-ADE4-DD9AA29E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2457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9A351-10CC-4602-9185-5DB372A2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BOUNDED AUTONOMY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CB2E3-D0F3-4E0F-936E-4B148B6D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528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Authority scales with risk, reversibility, observability and client policy.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4B2153-BF66-4E80-B777-5D6C814A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4574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63A6F-AFAE-487C-AE78-4469B7C8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00350"/>
            <a:ext cx="2457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1AAA8-6ADF-44B2-B2A3-F8572398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6A00"/>
                </a:solidFill>
              </a:defRPr>
            </a:pPr>
            <a:r>
              <a:rPr sz="1500" b="1">
                <a:solidFill>
                  <a:srgbClr val="C56A00"/>
                </a:solidFill>
              </a:rPr>
              <a:t>BYO THROUGH CONTRACTS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526B6F-B08D-4853-9647-BAF5BBCF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52850"/>
            <a:ext cx="2114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Clients replace tools and providers without forking the governance kernel.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7FACB0-9771-4924-A749-C8E12600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E74B5"/>
                </a:solidFill>
              </a:defRPr>
            </a:pPr>
            <a:r>
              <a:rPr sz="1275" b="1">
                <a:solidFill>
                  <a:srgbClr val="2E74B5"/>
                </a:solidFill>
              </a:rPr>
              <a:t>Invariant 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91CA1-C99B-4427-8E3B-D057601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52450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Faster delivery with stronger traceability, containment, separation of duties and client control.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9D897-FA28-4ED5-8D9D-614F8655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9C492-31E3-4DF1-AEB0-D8D37EF8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3917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9A391-237E-47D9-80FB-81264E66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END-TO-END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6825D-E62A-4644-98FD-7A9ABAE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Five planes separate authority, reasoning, execution and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AC6E9-F249-4A97-9F8D-45BE6E5C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47a1c66be407e"/>
          <a:stretch xmlns:a="http://schemas.openxmlformats.org/drawingml/2006/main"/>
        </p:blipFill>
        <p:spPr>
          <a:xfrm xmlns:a="http://schemas.openxmlformats.org/drawingml/2006/main">
            <a:off x="790142" y="1381125"/>
            <a:ext cx="1061171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A88B5-01F3-40FA-A68A-31D6DF1A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7CC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9D405-71BB-460C-A80E-276E0BF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8167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Trust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13F11-216B-4676-A1EA-6690EFB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62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Agent-authored code executes in the client trust zone; the control plane consumes independently verifiable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CE5B7-E135-41A4-936F-E3595F11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010E8D-99A7-44F0-8452-6A1A52C7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36651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A0E50A-5EE3-42A5-9B39-A41F91C6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LIFECYCLE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C04E8-CF67-4BC0-BC78-7ECA6C25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Every PDLC phase implements the same governed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44B74-C04A-40F8-9138-82710567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b755d1b324c20"/>
          <a:stretch xmlns:a="http://schemas.openxmlformats.org/drawingml/2006/main"/>
        </p:blipFill>
        <p:spPr>
          <a:xfrm xmlns:a="http://schemas.openxmlformats.org/drawingml/2006/main">
            <a:off x="514350" y="1838885"/>
            <a:ext cx="11163300" cy="170385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80AD8-CE53-49B3-A105-7569D354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65D"/>
                </a:solidFill>
              </a:defRPr>
            </a:pPr>
            <a:r>
              <a:rPr sz="1725" b="1">
                <a:solidFill>
                  <a:srgbClr val="17365D"/>
                </a:solidFill>
              </a:rPr>
              <a:t>The reusable control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4F25E-6496-42CB-99BD-95C3C705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Agent 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DB6D9-3355-4452-952A-D2B8D4BC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33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Context → proposal → bounded 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0FDB7-6642-4275-8D4C-AD45D4D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762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Deterministic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81A0F-696B-4565-8440-E40C81D3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33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Validation → evidence obligations →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123DE-ED1E-43B1-AFE3-D6A0221D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</a:defRPr>
            </a:pPr>
            <a:r>
              <a:rPr sz="1350" b="1">
                <a:solidFill>
                  <a:srgbClr val="2E74B5"/>
                </a:solidFill>
              </a:rPr>
              <a:t>Accountable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7B16D-F243-4C20-A886-43DC28B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33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Human, automated or hybrid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FFECB-B415-4CE2-A517-6254FDE6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62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05E"/>
                </a:solidFill>
              </a:defRPr>
            </a:pPr>
            <a:r>
              <a:rPr sz="1350" b="1">
                <a:solidFill>
                  <a:srgbClr val="18805E"/>
                </a:solidFill>
              </a:rPr>
              <a:t>Durable progression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55073-13CC-4DC0-82A4-2737B02F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133975"/>
            <a:ext cx="2333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Commit, write-back, handoff and learning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E3F1D-3D6E-48EE-B21A-8C550659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DF017-F85B-4625-AF79-F56BA05F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97043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5ACDD-8397-4BA5-886B-FD47739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BYO AND PLUGGABILITY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5B8F8-EA12-48AB-AE7D-F99ACB0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Stable semantics enable client portability without forks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4362F-DA21-44DC-A987-1500641F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de6b1cf604838"/>
          <a:stretch xmlns:a="http://schemas.openxmlformats.org/drawingml/2006/main"/>
        </p:blipFill>
        <p:spPr>
          <a:xfrm xmlns:a="http://schemas.openxmlformats.org/drawingml/2006/main">
            <a:off x="400050" y="2036557"/>
            <a:ext cx="7524750" cy="31087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2B96C-D33D-40D2-8862-A9C59A0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Replaceable at each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6C96A-7F64-4FCB-AA1F-1EB13167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Model and inference providers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148E7-6361-4E7E-9D42-9605958D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03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Work, requirements and source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F62F4-4FE4-484D-A9D5-AFD4FA4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CI, test, security and deployment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62245-155B-44A9-83F5-FDBE7FB0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Identity, secrets, graph and evidence stores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A72AB-DEFE-47F9-B3B0-76375C5C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1432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D89A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35251-A1DC-4CF4-BD80-E7CEC927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56A00"/>
                </a:solidFill>
              </a:defRPr>
            </a:pPr>
            <a:r>
              <a:rPr sz="1425" b="1">
                <a:solidFill>
                  <a:srgbClr val="C56A00"/>
                </a:solidFill>
              </a:rPr>
              <a:t>Conformance is mandatory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6FA90-5445-4D09-BB29-6FDA26FB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Version negotiation • idempotency • provenance • error semantics • cancellation •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8F813-C328-43C9-A2E7-65EA4D62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2B7BC-737C-473D-9563-DA7618C6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60398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B5630-EC73-4F98-9D53-AD662C8B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CONTEXT AND EVIDENCE FABRIC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549F5-9DB4-4A5D-904B-3DCF6726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One lifecycle identity connects intent to production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57CC8-05FC-49BB-8A0D-10C471C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aca51a7624135"/>
          <a:stretch xmlns:a="http://schemas.openxmlformats.org/drawingml/2006/main"/>
        </p:blipFill>
        <p:spPr>
          <a:xfrm xmlns:a="http://schemas.openxmlformats.org/drawingml/2006/main">
            <a:off x="533400" y="1625691"/>
            <a:ext cx="11125200" cy="235884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C024D-5689-4098-BB5F-4210D2C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B5"/>
                </a:solidFill>
              </a:defRPr>
            </a:pPr>
            <a:r>
              <a:rPr sz="1350" b="1">
                <a:solidFill>
                  <a:srgbClr val="2E74B5"/>
                </a:solidFill>
              </a:rPr>
              <a:t>Federated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F89E8-1E17-40D6-80E4-9D360FB6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Content stays in client systems of record; the framework stores identity, relationships and provenance.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EF4BB-87B8-4940-A55E-CCBC957D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805E"/>
                </a:solidFill>
              </a:defRPr>
            </a:pPr>
            <a:r>
              <a:rPr sz="1350" b="1">
                <a:solidFill>
                  <a:srgbClr val="18805E"/>
                </a:solidFill>
              </a:rPr>
              <a:t>Versioned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71684-AA19-4298-9859-528BD76E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1244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Every assertion is bound to source, run, derivation method, confidence and validity.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4510A-CDD1-4B76-A946-BCF6BB70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Queryable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C476A-DEEC-46E1-9EC7-5FADB679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769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Readiness and traceability become graph questions—not narrative claims.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4D9CF-2597-4666-B4EE-2BFEA30D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BBF3D8-05F7-4BBA-A9F1-1C1197D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5979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B59D1-E1D3-4007-AE33-8093AC2C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CORE DIFFERENTIATOR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B6226-8044-4BF0-8B78-9DDFB6AE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Impact intelligence is the lifecycle’s shared decision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590781-8666-4FC3-9461-767BDABC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687cc65654abf"/>
          <a:stretch xmlns:a="http://schemas.openxmlformats.org/drawingml/2006/main"/>
        </p:blipFill>
        <p:spPr>
          <a:xfrm xmlns:a="http://schemas.openxmlformats.org/drawingml/2006/main">
            <a:off x="1071519" y="1352550"/>
            <a:ext cx="10048962" cy="3762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F8043-DE40-4B3E-B9DF-1C31615D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7CC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FD15A-20D3-4B5D-89EC-98C06B6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65D"/>
                </a:solidFill>
              </a:defRPr>
            </a:pPr>
            <a:r>
              <a:rPr sz="1575" b="1">
                <a:solidFill>
                  <a:srgbClr val="17365D"/>
                </a:solidFill>
              </a:rPr>
              <a:t>One graph. One explanation model.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E30B8-5DF2-4CA8-8B8D-34E85BF2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4673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Design containment • implementation review • required regression • security scope • approval routing • deployment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B2E03-1596-469A-829E-1CAC19B2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1AD84-934A-4E69-8FB7-8F3EF209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17764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22742-D0B9-43AC-8DF1-4460D54E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SECURITY AND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EAAE4-3CE2-44B0-9E49-56A87EF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Client-resident execution preserves existing enterprise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2A0FD-B675-498C-B710-C667E8A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8ff05e2d54593"/>
          <a:stretch xmlns:a="http://schemas.openxmlformats.org/drawingml/2006/main"/>
        </p:blipFill>
        <p:spPr>
          <a:xfrm xmlns:a="http://schemas.openxmlformats.org/drawingml/2006/main">
            <a:off x="457200" y="2179984"/>
            <a:ext cx="5619750" cy="1440757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8d01304634411"/>
          <a:stretch xmlns:a="http://schemas.openxmlformats.org/drawingml/2006/main"/>
        </p:blipFill>
        <p:spPr>
          <a:xfrm xmlns:a="http://schemas.openxmlformats.org/drawingml/2006/main">
            <a:off x="6267450" y="1987916"/>
            <a:ext cx="5467350" cy="182489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6EA72-90D4-42DC-9479-2DEB1D9F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Privilege separation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E02C3-6578-4A4C-9262-BDC363A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Hybrid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8EE7F-3908-456D-AE7C-4BB46AC6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243840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22DF9-7B0A-4251-A819-8E19F1B1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No control-plane write secrets in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A5D7B4-FE91-407F-8820-39B3CC48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29200"/>
            <a:ext cx="243840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F5D37-4D74-4FF1-B9B3-5EBF14EB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1970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56A00"/>
                </a:solidFill>
              </a:defRPr>
            </a:pPr>
            <a:r>
              <a:rPr sz="1275" b="1">
                <a:solidFill>
                  <a:srgbClr val="C56A00"/>
                </a:solidFill>
              </a:rPr>
              <a:t>Short-lived, phase-scoped workload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9AE32-7265-4D00-8EB5-77F55B10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243840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28378-6F3E-4BFC-9B0C-A4567B3A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Signed or independently retrieved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FDA82-421A-4731-BD6E-D4BF43D6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29200"/>
            <a:ext cx="2438400" cy="857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C2F98-8A60-4576-8A32-D6CCFEF7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1970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56A00"/>
                </a:solidFill>
              </a:defRPr>
            </a:pPr>
            <a:r>
              <a:rPr sz="1275" b="1">
                <a:solidFill>
                  <a:srgbClr val="C56A00"/>
                </a:solidFill>
              </a:rPr>
              <a:t>Privileged write-back through trusted adapters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95372-CDD3-4E03-9193-513EE4BE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A40D8-08A3-4324-BE9E-0084B0C2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398556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2A52FA-D172-4885-8C24-12CA0AF1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4B5"/>
                </a:solidFill>
              </a:defRPr>
            </a:pPr>
            <a:r>
              <a:rPr sz="975" b="1">
                <a:solidFill>
                  <a:srgbClr val="2E74B5"/>
                </a:solidFill>
              </a:rPr>
              <a:t>OPERATIONAL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0DAE1-6893-4FD6-8FAE-6F25E31D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65D"/>
                </a:solidFill>
              </a:defRPr>
            </a:pPr>
            <a:r>
              <a:rPr sz="2700" b="1">
                <a:solidFill>
                  <a:srgbClr val="17365D"/>
                </a:solidFill>
              </a:rPr>
              <a:t>Trust requires policy, durable execution and measurable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766E1-B754-46E4-8CE4-9ACD641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4EA92-7266-47F3-9D18-FD11417E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90900" cy="39433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728A5-CB02-4E41-BAC1-253AFD74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558D8-4236-42DB-8F9E-47E0BB29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65D"/>
                </a:solidFill>
              </a:defRPr>
            </a:pPr>
            <a:r>
              <a:rPr sz="1800" b="1">
                <a:solidFill>
                  <a:srgbClr val="17365D"/>
                </a:solidFill>
              </a:rPr>
              <a:t>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BCB7A-0179-4ACE-B7AF-9C8F558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External to prompts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77FC6-271B-4D9F-B9B3-016FB306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Enterprise and client policy packs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7F7FD-AAEA-4C63-BC5B-7AF9E2F0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Risk-tiered decision rights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6BFCA-E687-431C-97CE-CD3568D0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Time-bound exceptions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E9B66-2C74-4644-88AA-94418849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62100"/>
            <a:ext cx="3390900" cy="39433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C1DD2-B1DD-4FDD-9BFB-1A6E922C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621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E9267-04EB-4AAE-A20B-CE0A041E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4B5"/>
                </a:solidFill>
              </a:defRPr>
            </a:pPr>
            <a:r>
              <a:rPr sz="1800" b="1">
                <a:solidFill>
                  <a:srgbClr val="2E74B5"/>
                </a:solidFill>
              </a:rPr>
              <a:t>RELIABILITY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5FBCB-94A5-4D97-864F-12A2F8D5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241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Durable by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9A6FB-8D6E-4F2B-AF16-3510EEC5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Persist before 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61B3D-F098-48FE-B4C4-9A3FA031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48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Idempotent correlation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B0892-2420-49D9-B6C8-4E322FDA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Reconcile, resume and compensate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E2189-FFC4-4781-AD85-5E7C089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390900" cy="39433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7D0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1AB4C-EB2D-4542-B36E-F2B2CE14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3390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80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9AD91-CCE4-4D46-8544-659B8275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859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805E"/>
                </a:solidFill>
              </a:defRPr>
            </a:pPr>
            <a:r>
              <a:rPr sz="1800" b="1">
                <a:solidFill>
                  <a:srgbClr val="18805E"/>
                </a:solidFill>
              </a:rPr>
              <a:t>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EC8F1-A516-4669-A194-49DB4C8A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Measured continuously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81EA9-C030-4B20-BC34-6C44C7C5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Agent and phase evals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435904-CD53-42B6-A0CA-BDDB6BDB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Impact recall and precision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4DCE34-A670-4BB7-A67C-AC72C6F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 Production outcome monitoring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7214DE-03A6-4F99-88E6-B0172EE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8191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B7CC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DCB30-A14C-4F43-B057-E833960A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915025"/>
            <a:ext cx="7858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65D"/>
                </a:solidFill>
              </a:defRPr>
            </a:pPr>
            <a:r>
              <a:rPr sz="1275" b="1">
                <a:solidFill>
                  <a:srgbClr val="17365D"/>
                </a:solidFill>
              </a:rPr>
              <a:t>Models, prompts, policies and adapters advance only when their versioned evidence meets defined thresholds.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32CB5-6B7A-4CDE-81BB-7EC03C7F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AGENTIC PDLC FRAMEWORK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CD4157-37A8-4802-AF6E-A296B86D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6474"/>
                </a:solidFill>
              </a:defRPr>
            </a:pPr>
            <a:r>
              <a:rPr sz="825" b="1">
                <a:solidFill>
                  <a:srgbClr val="586474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692299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76C406-A247-4807-ABF5-46171B64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C7E8"/>
                </a:solidFill>
              </a:defRPr>
            </a:pPr>
            <a:r>
              <a:rPr sz="1050" b="1">
                <a:solidFill>
                  <a:srgbClr val="9DC7E8"/>
                </a:solidFill>
              </a:rPr>
              <a:t>ADOPTION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C54FE-305C-4DC4-A48B-2FE981C8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7620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Standardize governance.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Federate capabilities.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Earn autonomy.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A3786-63CB-4EB6-846B-A0BB0CC0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B3F12-63C1-4D12-8F88-F41B6BBC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DDB2C-21BB-43D9-A2B8-EF1DEDA2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62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Governance kernel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317F0-0174-4C27-9E5F-ED7A46C0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718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State • identity • policy •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490A0-70CA-4691-8D7F-A017C121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B30F7-683A-4CFE-8530-4780E45D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594B5C-34B0-4BAA-928C-B47583D2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Client integrations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AFBBF-3307-4D17-BD5A-36C1EC1F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433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Read-only context and system adapters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FF637-1B85-49B5-AFDB-997A1050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01390-4369-4072-8D3B-2695905A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57A980-A8D5-4C39-8CCF-E57697F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05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One bounded phase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7BB38-751C-4D74-BC96-1FE39706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148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Evidence-rich recommendation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4A17E-FD13-44F3-B70C-BD422088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A7DB2-D8C7-4B27-B3E8-09AE5376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1A514-A71C-4728-BACC-78C875EA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Controlled execution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A8ED1-6A92-40A0-9CF2-FC8A7E55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863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Isolation • conformance • deterministic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44D79-C751-44D7-9F2B-D92BC5DD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D13DB-B715-4B22-B9BC-2D7B9FBA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65D"/>
                </a:solidFill>
              </a:defRPr>
            </a:pPr>
            <a:r>
              <a:rPr sz="1200" b="1">
                <a:solidFill>
                  <a:srgbClr val="17365D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E3382-3C32-4589-800D-07D6A404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483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Risk-tiered autonomy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6FC1D-90CE-40F2-873F-DF5A7728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578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2EF"/>
                </a:solidFill>
              </a:defRPr>
            </a:pPr>
            <a:r>
              <a:rPr sz="1350" b="0">
                <a:solidFill>
                  <a:srgbClr val="D5E2EF"/>
                </a:solidFill>
              </a:rPr>
              <a:t>Expand only from measured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CE55A-0094-461B-A9EC-F374983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409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9DC7E8"/>
                </a:solidFill>
              </a:defRPr>
            </a:pPr>
            <a:r>
              <a:rPr sz="2100" b="1">
                <a:solidFill>
                  <a:srgbClr val="9DC7E8"/>
                </a:solidFill>
              </a:rPr>
              <a:t>Never confuse replaceability with optional governance.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053E5-1EE2-4D28-93DE-77DC9FF5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The architecture stands when every decision is bounded, evidenced, attributable and replayable—regardless of which client technology implements the 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0CBDCC-454E-4B8D-B9C4-26B4C8A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2D4"/>
                </a:solidFill>
              </a:defRPr>
            </a:pPr>
            <a:r>
              <a:rPr sz="825" b="1">
                <a:solidFill>
                  <a:srgbClr val="AFC2D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4815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2026-08-24T16:25:22.2190000Z</dcterms:created>
  <dcterms:modified xsi:type="dcterms:W3CDTF">2026-08-24T16:25:22.2190000Z</dcterms:modified>
</coreProperties>
</file>