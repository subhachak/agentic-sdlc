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e97322560d4c73" /><Relationship Type="http://schemas.openxmlformats.org/officeDocument/2006/relationships/extended-properties" Target="/docProps/app.xml" Id="Rd2bfaf346274475b" /><Relationship Type="http://schemas.openxmlformats.org/officeDocument/2006/relationships/officeDocument" Target="/ppt/presentation.xml" Id="R3cc1af6d5a7d4c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5cbe1ae7cf4b28"/>
  </p:sldMasterIdLst>
  <p:notesMasterIdLst>
    <p:notesMasterId xmlns:r="http://schemas.openxmlformats.org/officeDocument/2006/relationships" r:id="R10a505762fe24064"/>
  </p:notesMasterIdLst>
  <p:sldIdLst>
    <p:sldId xmlns:r="http://schemas.openxmlformats.org/officeDocument/2006/relationships" id="256" r:id="R74daffa3940f4f9b"/>
    <p:sldId xmlns:r="http://schemas.openxmlformats.org/officeDocument/2006/relationships" id="257" r:id="R79125aa7420348c6"/>
    <p:sldId xmlns:r="http://schemas.openxmlformats.org/officeDocument/2006/relationships" id="258" r:id="R5b1c092a751e4454"/>
    <p:sldId xmlns:r="http://schemas.openxmlformats.org/officeDocument/2006/relationships" id="259" r:id="R531f846895514abb"/>
    <p:sldId xmlns:r="http://schemas.openxmlformats.org/officeDocument/2006/relationships" id="260" r:id="R69ad15881cad4c1f"/>
    <p:sldId xmlns:r="http://schemas.openxmlformats.org/officeDocument/2006/relationships" id="261" r:id="Ra7a5c711284b41f1"/>
    <p:sldId xmlns:r="http://schemas.openxmlformats.org/officeDocument/2006/relationships" id="262" r:id="R9015ea58d09149c7"/>
    <p:sldId xmlns:r="http://schemas.openxmlformats.org/officeDocument/2006/relationships" id="263" r:id="Rf12b3ce25cf44600"/>
    <p:sldId xmlns:r="http://schemas.openxmlformats.org/officeDocument/2006/relationships" id="264" r:id="R52215f49b6344e33"/>
    <p:sldId xmlns:r="http://schemas.openxmlformats.org/officeDocument/2006/relationships" id="265" r:id="R3aca63c863ef4e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c450bf48145a7" /><Relationship Type="http://schemas.openxmlformats.org/officeDocument/2006/relationships/slideMaster" Target="/ppt/slideMasters/slideMaster1.xml" Id="R535cbe1ae7cf4b28" /><Relationship Type="http://schemas.openxmlformats.org/officeDocument/2006/relationships/notesMaster" Target="/ppt/notesMasters/notesMaster1.xml" Id="R10a505762fe24064" /><Relationship Type="http://schemas.openxmlformats.org/officeDocument/2006/relationships/presProps" Target="/ppt/presProps.xml" Id="R430accf93ae24ee7" /><Relationship Type="http://schemas.openxmlformats.org/officeDocument/2006/relationships/tableStyles" Target="/ppt/tableStyles.xml" Id="Re0e88943f6974c5e" /><Relationship Type="http://schemas.openxmlformats.org/officeDocument/2006/relationships/slide" Target="/ppt/slides/slide1.xml" Id="R74daffa3940f4f9b" /><Relationship Type="http://schemas.openxmlformats.org/officeDocument/2006/relationships/slide" Target="/ppt/slides/slide2.xml" Id="R79125aa7420348c6" /><Relationship Type="http://schemas.openxmlformats.org/officeDocument/2006/relationships/slide" Target="/ppt/slides/slide3.xml" Id="R5b1c092a751e4454" /><Relationship Type="http://schemas.openxmlformats.org/officeDocument/2006/relationships/slide" Target="/ppt/slides/slide4.xml" Id="R531f846895514abb" /><Relationship Type="http://schemas.openxmlformats.org/officeDocument/2006/relationships/slide" Target="/ppt/slides/slide5.xml" Id="R69ad15881cad4c1f" /><Relationship Type="http://schemas.openxmlformats.org/officeDocument/2006/relationships/slide" Target="/ppt/slides/slide6.xml" Id="Ra7a5c711284b41f1" /><Relationship Type="http://schemas.openxmlformats.org/officeDocument/2006/relationships/slide" Target="/ppt/slides/slide7.xml" Id="R9015ea58d09149c7" /><Relationship Type="http://schemas.openxmlformats.org/officeDocument/2006/relationships/slide" Target="/ppt/slides/slide8.xml" Id="Rf12b3ce25cf44600" /><Relationship Type="http://schemas.openxmlformats.org/officeDocument/2006/relationships/slide" Target="/ppt/slides/slide9.xml" Id="R52215f49b6344e33" /><Relationship Type="http://schemas.openxmlformats.org/officeDocument/2006/relationships/slide" Target="/ppt/slides/slide10.xml" Id="R3aca63c863ef4e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0506ded36c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50ee649c3a4d97" /><Relationship Type="http://schemas.openxmlformats.org/officeDocument/2006/relationships/notesMaster" Target="/ppt/notesMasters/notesMaster1.xml" Id="Re23ef33e8cda42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a5b78476004cff" /><Relationship Type="http://schemas.openxmlformats.org/officeDocument/2006/relationships/notesMaster" Target="/ppt/notesMasters/notesMaster1.xml" Id="R1cec863cbcb846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26d9ffbca74340" /><Relationship Type="http://schemas.openxmlformats.org/officeDocument/2006/relationships/notesMaster" Target="/ppt/notesMasters/notesMaster1.xml" Id="Rfdc79ee1409f42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6166a4b5904c06" /><Relationship Type="http://schemas.openxmlformats.org/officeDocument/2006/relationships/notesMaster" Target="/ppt/notesMasters/notesMaster1.xml" Id="R64a10e2581834d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540d778e7b46ae" /><Relationship Type="http://schemas.openxmlformats.org/officeDocument/2006/relationships/notesMaster" Target="/ppt/notesMasters/notesMaster1.xml" Id="R88cd8bd611cb42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e1ca63556e49ec" /><Relationship Type="http://schemas.openxmlformats.org/officeDocument/2006/relationships/notesMaster" Target="/ppt/notesMasters/notesMaster1.xml" Id="Rfbde4e991eb048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fa963f52cb491e" /><Relationship Type="http://schemas.openxmlformats.org/officeDocument/2006/relationships/notesMaster" Target="/ppt/notesMasters/notesMaster1.xml" Id="Rb66dfb5908e342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ee4040e3d64d0a" /><Relationship Type="http://schemas.openxmlformats.org/officeDocument/2006/relationships/notesMaster" Target="/ppt/notesMasters/notesMaster1.xml" Id="R538438dff41e47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03e4c646a047a4" /><Relationship Type="http://schemas.openxmlformats.org/officeDocument/2006/relationships/notesMaster" Target="/ppt/notesMasters/notesMaster1.xml" Id="Rce812b56afed40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69574c355f4c65" /><Relationship Type="http://schemas.openxmlformats.org/officeDocument/2006/relationships/notesMaster" Target="/ppt/notesMasters/notesMaster1.xml" Id="R2a2ae9acc56a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 document (internal)</a:t>
            </a:r>
          </a:p>
          <a:p xmlns:a="http://schemas.openxmlformats.org/drawingml/2006/main">
            <a:r>
              <a:t>- Prior architecture deck diagrams (internal)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 document (internal)</a:t>
            </a:r>
          </a:p>
          <a:p xmlns:a="http://schemas.openxmlformats.org/drawingml/2006/main">
            <a:r>
              <a:t>- Prior architecture deck diagrams (internal)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 document (internal)</a:t>
            </a:r>
          </a:p>
          <a:p xmlns:a="http://schemas.openxmlformats.org/drawingml/2006/main">
            <a:r>
              <a:t>- Prior architecture deck diagrams (internal)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 document (internal)</a:t>
            </a:r>
          </a:p>
          <a:p xmlns:a="http://schemas.openxmlformats.org/drawingml/2006/main">
            <a:r>
              <a:t>- Prior architecture deck diagrams (internal)</a:t>
            </a:r>
          </a:p>
          <a:p xmlns:a="http://schemas.openxmlformats.org/drawingml/2006/main">
            <a:r>
              <a:t>- Embedded diagram: prior architecture deck,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 document (internal)</a:t>
            </a:r>
          </a:p>
          <a:p xmlns:a="http://schemas.openxmlformats.org/drawingml/2006/main">
            <a:r>
              <a:t>- Prior architecture deck diagrams (internal)</a:t>
            </a:r>
          </a:p>
          <a:p xmlns:a="http://schemas.openxmlformats.org/drawingml/2006/main">
            <a:r>
              <a:t>- Embedded diagram: prior architecture deck,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 document (internal)</a:t>
            </a:r>
          </a:p>
          <a:p xmlns:a="http://schemas.openxmlformats.org/drawingml/2006/main">
            <a:r>
              <a:t>- Prior architecture deck diagrams (internal)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 document (internal)</a:t>
            </a:r>
          </a:p>
          <a:p xmlns:a="http://schemas.openxmlformats.org/drawingml/2006/main">
            <a:r>
              <a:t>- Prior architecture deck diagrams (internal)</a:t>
            </a:r>
          </a:p>
          <a:p xmlns:a="http://schemas.openxmlformats.org/drawingml/2006/main">
            <a:r>
              <a:t>- Embedded diagram: prior architecture deck,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 document (internal)</a:t>
            </a:r>
          </a:p>
          <a:p xmlns:a="http://schemas.openxmlformats.org/drawingml/2006/main">
            <a:r>
              <a:t>- Prior architecture deck diagrams (internal)</a:t>
            </a:r>
          </a:p>
          <a:p xmlns:a="http://schemas.openxmlformats.org/drawingml/2006/main">
            <a:r>
              <a:t>- Embedded diagrams: prior architecture deck,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5d30b67a544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609045eafc4374" /><Relationship Type="http://schemas.openxmlformats.org/officeDocument/2006/relationships/slideLayout" Target="/ppt/slideLayouts/slideLayout1.xml" Id="R7b411906f2cf4b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411906f2cf4b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4a57c850a4e64" /><Relationship Type="http://schemas.openxmlformats.org/officeDocument/2006/relationships/notesSlide" Target="/ppt/notesSlides/notesSlide1.xml" Id="R189cfb329ffa4b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31eb4078d4184" /><Relationship Type="http://schemas.openxmlformats.org/officeDocument/2006/relationships/notesSlide" Target="/ppt/notesSlides/notesSlide2.xml" Id="R725af6ab0f8545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ce9cb0d9d452c" /><Relationship Type="http://schemas.openxmlformats.org/officeDocument/2006/relationships/notesSlide" Target="/ppt/notesSlides/notesSlide3.xml" Id="R5b55b88c5a8245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1eb9725f04e54" /><Relationship Type="http://schemas.openxmlformats.org/officeDocument/2006/relationships/notesSlide" Target="/ppt/notesSlides/notesSlide4.xml" Id="R2f766633c6d343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2bc3567614b6a" /><Relationship Type="http://schemas.openxmlformats.org/officeDocument/2006/relationships/image" Target="/ppt/media/image.png" Id="R39e4e3f307674331" /><Relationship Type="http://schemas.openxmlformats.org/officeDocument/2006/relationships/notesSlide" Target="/ppt/notesSlides/notesSlide5.xml" Id="R60c443500adc4e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c2f53da614054" /><Relationship Type="http://schemas.openxmlformats.org/officeDocument/2006/relationships/image" Target="/ppt/media/image2.png" Id="R1d8ca895d4b74579" /><Relationship Type="http://schemas.openxmlformats.org/officeDocument/2006/relationships/notesSlide" Target="/ppt/notesSlides/notesSlide6.xml" Id="R934bed99540d46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fe072b1ac440a" /><Relationship Type="http://schemas.openxmlformats.org/officeDocument/2006/relationships/notesSlide" Target="/ppt/notesSlides/notesSlide7.xml" Id="Rbbf31a23fa6849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9e6e6ee484f44" /><Relationship Type="http://schemas.openxmlformats.org/officeDocument/2006/relationships/image" Target="/ppt/media/image3.png" Id="R40f4e13aa2fe4dfd" /><Relationship Type="http://schemas.openxmlformats.org/officeDocument/2006/relationships/notesSlide" Target="/ppt/notesSlides/notesSlide8.xml" Id="R5be18dfa87dd41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214ce0c3c4c24" /><Relationship Type="http://schemas.openxmlformats.org/officeDocument/2006/relationships/image" Target="/ppt/media/image4.png" Id="Rcfab4bb4497b4817" /><Relationship Type="http://schemas.openxmlformats.org/officeDocument/2006/relationships/image" Target="/ppt/media/image5.png" Id="R469058a22a7641d3" /><Relationship Type="http://schemas.openxmlformats.org/officeDocument/2006/relationships/notesSlide" Target="/ppt/notesSlides/notesSlide9.xml" Id="R300d12325ccc46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2b88b5d0d4c2a" /><Relationship Type="http://schemas.openxmlformats.org/officeDocument/2006/relationships/notesSlide" Target="/ppt/notesSlides/notesSlide10.xml" Id="R721665c2e58f48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3FDB6-86EE-4A13-8F47-0B8D43C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780A9-0C2A-48E7-BC70-1E619037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E74B5"/>
                </a:solidFill>
              </a:defRPr>
            </a:pPr>
            <a:r>
              <a:rPr sz="1125" b="1">
                <a:solidFill>
                  <a:srgbClr val="2E74B5"/>
                </a:solidFill>
              </a:rPr>
              <a:t>REFERENCE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35CF8-1335-4FF6-94F1-F48F0B6F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7365D"/>
                </a:solidFill>
              </a:defRPr>
            </a:pPr>
            <a:r>
              <a:rPr sz="4200" b="1">
                <a:solidFill>
                  <a:srgbClr val="17365D"/>
                </a:solidFill>
              </a:rPr>
              <a:t>Agentic Product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7365D"/>
                </a:solidFill>
              </a:defRPr>
            </a:pPr>
            <a:r>
              <a:rPr sz="4200" b="1">
                <a:solidFill>
                  <a:srgbClr val="17365D"/>
                </a:solidFill>
              </a:rPr>
              <a:t>Development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A033D-FBA1-4985-8299-B4F1B00D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86474"/>
                </a:solidFill>
              </a:defRPr>
            </a:pPr>
            <a:r>
              <a:rPr sz="1875" b="0">
                <a:solidFill>
                  <a:srgbClr val="586474"/>
                </a:solidFill>
              </a:rPr>
              <a:t>A governed, client-extensible framework for AI-enabled software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79B3A-1E36-44DD-993D-5767513C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7696E-2068-4BD4-850D-FD313B13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Principal AI Architecture perspective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422B7-D6A8-4ABD-8651-A20D4506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Control at the core. Client sovereignty at the edges.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96B1E-794E-4F4A-BFC8-ABA5D5E3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474"/>
                </a:solidFill>
              </a:defRPr>
            </a:pPr>
            <a:r>
              <a:rPr sz="1125" b="0">
                <a:solidFill>
                  <a:srgbClr val="586474"/>
                </a:solidFill>
              </a:rPr>
              <a:t>Solution architecture • governing philosophy • BYO capability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6E8DA-EA1A-44C3-9417-6297CC7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28700"/>
            <a:ext cx="142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8FB6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5DA60-98BB-4C9C-ADAE-A27EE956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049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7365D"/>
                </a:solidFill>
              </a:defRPr>
            </a:pPr>
            <a:r>
              <a:rPr sz="3300" b="1">
                <a:solidFill>
                  <a:srgbClr val="17365D"/>
                </a:solidFill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21373-33DC-4A4D-BAFE-DFCC8F7B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GOVERNED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C3D95-8B54-4726-97BE-9855F27E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AGENTIC PDLC FRAMEWORK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C1516-131B-48E6-B517-ED95E1EB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593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877FE-AA83-41C3-A891-7CF0BCDA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ARCHITECTURAL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84310-CEEA-4B70-A434-5258B09A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The framework governs decisions—not just agent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47706-8D12-41E4-B1FA-B2DD9F13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30387-166B-4A3E-B13A-7883C459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6B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6B2A"/>
                </a:solidFill>
                <a:latin typeface="Calibri"/>
                <a:ea typeface="Calibri"/>
                <a:cs typeface="Calibri"/>
              </a:rPr>
              <a:t>The core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F9BD5-7A04-41F2-98DE-E30AE2B3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810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Most agent platforms optimize a task. An enterprise PDLC must preserve intent, authority, evidence and accountability across an entire product lifecycle.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EF397-A088-494C-9107-1FFDB45B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383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86F0A-52D9-44F9-96E7-0D28269E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57350"/>
            <a:ext cx="609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8B828-C642-4B42-AEB5-41194FBC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573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D18D5-BA33-4E46-8AEE-250E1857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28800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Lifecycle state is durable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837BD-9DB3-48D9-A481-FF4764FB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0980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B7A"/>
                </a:solidFill>
                <a:latin typeface="Calibri"/>
                <a:ea typeface="Calibri"/>
                <a:cs typeface="Calibri"/>
              </a:rPr>
              <a:t>Every phase consumes a versioned state and emits governed artifacts, decisions and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B3117-10AC-4A9B-9FA6-F6F289A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19400"/>
            <a:ext cx="609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8A97B-194D-4656-BB0A-518FB95E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194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56CBA-1D42-4B3D-A98C-A21BF56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90850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Autonomy is earned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73F3D-1F4A-4BF7-B255-8D169751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B7A"/>
                </a:solidFill>
                <a:latin typeface="Calibri"/>
                <a:ea typeface="Calibri"/>
                <a:cs typeface="Calibri"/>
              </a:rPr>
              <a:t>Risk, confidence and policy determine whether the system proceeds, pauses, escalates or requires approval.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79002-87DD-4CE3-B832-ABE51A0B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81450"/>
            <a:ext cx="609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0ECF7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39739-20C0-45CB-B7CC-E6829FB9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814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52DE1-389B-4D64-B317-141BC403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52900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Intelligence is replaceable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5AE07-1C4D-4790-937B-A7D006D4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3390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B7A"/>
                </a:solidFill>
                <a:latin typeface="Calibri"/>
                <a:ea typeface="Calibri"/>
                <a:cs typeface="Calibri"/>
              </a:rPr>
              <a:t>Models, agents and tools can change; the lifecycle contract, policy semantics and evidence model remain stable.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8803F-9F2C-4FCD-BC3C-53AC1279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553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9B3D6-2AFC-4A10-BAFF-9830BB8E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DC7E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DC7E8"/>
                </a:solidFill>
                <a:latin typeface="Calibri"/>
                <a:ea typeface="Calibri"/>
                <a:cs typeface="Calibri"/>
              </a:rPr>
              <a:t>Architectural consequence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C9A8A-E319-4AD1-AAA4-04F22A55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38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governed operating system for product change—not a chain of prompts.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ECDD9-171B-446F-820A-322CEB18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AGENTIC PRODUCT DEVELOPMENT LIFECYCLE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64A4E-52D8-4054-9D7D-A9D289CB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3917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2BF9D-B47F-49EB-B9EC-4025AC7F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DESIGN TENETS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EECE1-794C-45B6-8B8F-FF4029D3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Standardize semantics; federate client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64805-3851-4E65-93A2-C81E4419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9A81C-ED04-4DD6-AC22-D4BC474B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B7A"/>
                </a:solidFill>
                <a:latin typeface="Calibri"/>
                <a:ea typeface="Calibri"/>
                <a:cs typeface="Calibri"/>
              </a:rPr>
              <a:t>These boundaries make the framework portable without weakening governance.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857500"/>
                <a:gridCol w="2762250"/>
                <a:gridCol w="3305175"/>
              </a:tblGrid>
              <a:tr h="650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Tenet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stays invariant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clients can bring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Governed 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Lifecycle IDs, artifact lineage, decisions,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System-of-record integrations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The journey remains reconstructable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Stable contracts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Phase inputs/outputs, capability interfaces, events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Agents, models, tools, workflows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Upgrades do not require framework forks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Policy as 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Decision points, obligations, approval semantics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Enterprise policies and risk thresholds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Autonomy stays explainable and auditable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Evidence before confidence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Provenance, validation status, confidence basis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Scanners, test engines, evaluators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Claims are tied to verifiable evidence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Least privilege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Scoped identity, credentials, tool permissions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Identity provider and secret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Agent authority is bounded by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5223F-680F-4BC4-B678-24150227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7C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1B1BD-68DD-4716-BD1E-238EFEC8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Standardize semantics and controls; federate capabilities and client-specific policy.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466C0-7581-4593-9194-C08C7F2D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AGENTIC PRODUCT DEVELOPMENT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F75A8-E152-4AC5-8379-B9788B6F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3917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23828-3B49-4CFF-933F-62880259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FRAMEWORK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67328-67E3-42A0-ABA9-ACE45F6E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BYO capabilities plug into governed contracts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2F3D8-5D91-4D1D-BE84-E85D0F98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3D709-FCA1-4F61-9553-C6087E54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The framework owns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1D886-5D40-48F1-BED8-6C040324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429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Lifecycle protocol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Policy decision points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State and evidence semantics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Identity and authorization context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Observability and conformance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B9A11-460F-4CC2-A088-B4394706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714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7C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6A62C-B0B3-4060-BA6E-E278046C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Non-negotiable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F2003-1421-4181-B8EF-481DD611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A plugin may propose or execute. It may not bypass policy, manufacture evidence, or mutate authoritative state outside the contract.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629150" y="1657350"/>
          <a:ext xmlns:a="http://schemas.openxmlformats.org/drawingml/2006/main" cx="6953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762250"/>
              </a:tblGrid>
              <a:tr h="5687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Capability port</a:t>
                      </a:r>
                    </a:p>
                  </a:txBody>
                  <a:tcPr marL="91440" marR="91440" marT="45720" marB="45720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Client implementation</a:t>
                      </a:r>
                    </a:p>
                  </a:txBody>
                  <a:tcPr marL="91440" marR="91440" marT="45720" marB="45720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Minimum conformance</a:t>
                      </a:r>
                    </a:p>
                  </a:txBody>
                  <a:tcPr marL="91440" marR="91440" marT="45720" marB="45720">
                    <a:solidFill>
                      <a:srgbClr val="2E74B5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Model gateway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Preferred LLMs / routers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Identity, telemetry, policy hooks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Agent runtime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Client or vendor agents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Typed I/O, timeouts, evidence emission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Tool connector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SCM, ALM, test, security, cloud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Scoped auth, dry-run, idempotency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Knowledge provider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Docs, graph, vector, catalog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Provenance, freshness, access control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Policy engine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OPA, Cedar, custom rules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Decision + obligations + rationale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Evaluator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Client quality and risk models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Versioned scores and evidence links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151F9-BB38-4315-B658-BAFF920D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8102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7D5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7D5B"/>
                </a:solidFill>
                <a:latin typeface="Calibri"/>
                <a:ea typeface="Calibri"/>
                <a:cs typeface="Calibri"/>
              </a:rPr>
              <a:t>Adapters pass a conformance suite before they can participate in governed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A23B3-C2E0-4EC9-BF59-D27D1D3E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AGENTIC PRODUCT DEVELOPMENT LIFECYCLE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3A4DB-05F1-43D7-93A5-5DDF254C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3917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536BF3-4E1D-4417-9373-9A2180AF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SOLUTION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E50D9-8076-420E-BF9E-6A7B8340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Five planes separate authority, reasoning, execution and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39842-D39E-48F3-B159-D0D15E3C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4e3f307674331"/>
          <a:stretch xmlns:a="http://schemas.openxmlformats.org/drawingml/2006/main"/>
        </p:blipFill>
        <p:spPr>
          <a:xfrm xmlns:a="http://schemas.openxmlformats.org/drawingml/2006/main">
            <a:off x="533400" y="2070016"/>
            <a:ext cx="7905750" cy="305134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2F86A-D2F8-45A6-B0C3-3C138656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85900"/>
            <a:ext cx="2914650" cy="42862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80F09-43AC-431D-8292-45EACA7C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14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How to read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C9BA3-987C-4F81-8958-C72FA655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9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AA09F-4C65-4834-B477-D507713A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383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DAE92-C6B7-4623-B675-4948F35B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Experience initiates 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3A591-580B-4FFF-8619-56780CEF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44C5C-38DD-46FF-9586-2E9EFDC3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6EEAF-CCE2-44A8-B4A4-698F6AE1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289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Control plane owns authority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F50F8-BE67-41BA-A296-223378A8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48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63D86-17D8-4FC3-9182-5DF64AA6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766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A2367-C47C-4228-9B3B-776CA5F3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48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Intelligence proposes 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E7641-3CB9-4513-AACA-EF014EC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67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E45A4-719C-47EF-B840-EA2A3237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F7288-E974-4A04-8BEB-C8FDF240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671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Execution performs bounded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F5128-BE7E-4984-8BE7-A78A3881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86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14BC6-2DA7-49A3-BAA1-3F7CBF43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14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970CB-B574-4BB3-9CEF-838BF8F3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Evidence closes the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63543-F183-4C27-9647-D3D88648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B9D8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EAC15-2F1F-4CDA-8C40-106C0FFC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863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7D5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F7D5B"/>
                </a:solidFill>
                <a:latin typeface="Calibri"/>
                <a:ea typeface="Calibri"/>
                <a:cs typeface="Calibri"/>
              </a:rPr>
              <a:t>Control flows down. Evidence flows back.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576E3-6200-4631-8D22-1C31D771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AGENTIC PRODUCT DEVELOPMENT LIFECYCLE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1BB2E-C731-4D76-B74A-E1D4C956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36651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115A0-4F12-4A4D-932D-A8845B90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LIFECYCLE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63C81-8F17-4234-92FE-CF9C566E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Every PDLC phase implements the same governed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97DE3-A9FD-44B0-BDAB-C1720377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ca895d4b74579"/>
          <a:stretch xmlns:a="http://schemas.openxmlformats.org/drawingml/2006/main"/>
        </p:blipFill>
        <p:spPr>
          <a:xfrm xmlns:a="http://schemas.openxmlformats.org/drawingml/2006/main">
            <a:off x="457200" y="1673000"/>
            <a:ext cx="11277600" cy="1721301"/>
          </a:xfrm>
          <a:prstGeom xmlns:a="http://schemas.openxmlformats.org/drawingml/2006/main" prst="rect">
            <a:avLst/>
          </a:prstGeom>
        </p:spPr>
      </p:pic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829050"/>
          <a:ext xmlns:a="http://schemas.openxmlformats.org/drawingml/2006/main" cx="108585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905375"/>
                <a:gridCol w="3952875"/>
              </a:tblGrid>
              <a:tr h="29935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Contract surface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Required content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Control objective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</a:tr>
              <a:tr h="29935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Inputs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Intent, state, policies,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Start from authorized context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935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Reasoning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Plan, alternatives, confidence, assumptions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Make judgment inspectable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29935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Execution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Tool calls, mutations, retries, receipts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Bound side effects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935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Outputs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Artifacts, decisions, findings, next-state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Produce typed lifecycle state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29935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Policy decision, obligations, approvals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Earn progression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935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Provenance, validation, audit events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Support reconstruction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3E725-915D-4BBB-ACB2-FE561CC3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AGENTIC PRODUCT DEVELOPMENT LIFECYCLE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C1713-6E53-4005-8F5E-6994B2AD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366519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5B6F6-DAF5-4366-936F-A4724D1E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SHARED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80E9E-5AC3-4ECE-AB8B-4D4650EC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Context, identity and evidence form the durable lifecycle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6F63C-F136-45A4-90AD-2725DDA9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ADC5A-0535-43D5-886D-668E0F8A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9050">
            <a:solidFill>
              <a:srgbClr val="2E74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07FD7-2780-4BF1-9B28-4D00097D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59408-2672-40E2-93BC-CAB38995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743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Versioned intent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Artifact graph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Dependency knowledge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Historical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E06CD-81CA-4A39-B0BA-AF977542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9F4EF"/>
          </a:solidFill>
          <a:ln xmlns:a="http://schemas.openxmlformats.org/drawingml/2006/main" w="19050">
            <a:solidFill>
              <a:srgbClr val="2F7D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6711E-F870-4309-A05C-2F22646D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7D5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F7D5B"/>
                </a:solidFill>
                <a:latin typeface="Calibri"/>
                <a:ea typeface="Calibri"/>
                <a:cs typeface="Calibri"/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C7CCB-7E62-4DC0-A421-82D69D36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33650"/>
            <a:ext cx="2743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Actor + delegation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Tenant and project scope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Entitlements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Credential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A0B69-8132-4FA9-928D-B647F5C0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0ECF7"/>
          </a:solidFill>
          <a:ln xmlns:a="http://schemas.openxmlformats.org/drawingml/2006/main" w="19050">
            <a:solidFill>
              <a:srgbClr val="7257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0EE84-F304-447B-BC0C-46031001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257A6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7257A6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AAAB5-E6D6-4B29-A8C2-3414C9C2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2743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Provenance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Validation receipts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Confidence basis</a:t>
            </a:r>
          </a:p>
          <a:p xmlns:a="http://schemas.openxmlformats.org/drawingml/2006/main">
            <a:pPr algn="l">
              <a:defRPr sz="1425" b="0">
                <a:solidFill>
                  <a:srgbClr val="24364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364B"/>
                </a:solidFill>
                <a:latin typeface="Calibri"/>
                <a:ea typeface="Calibri"/>
                <a:cs typeface="Calibri"/>
              </a:rPr>
              <a:t>Audit-ready lineage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26AFB-6D7C-4C90-B663-87094AC0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48250"/>
            <a:ext cx="948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D585A-EFED-4B11-A7F8-4752816E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Lifecycle State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3640F-BB7E-4E90-8DD9-A82080EE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16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8F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DCE8F2"/>
                </a:solidFill>
                <a:latin typeface="Calibri"/>
                <a:ea typeface="Calibri"/>
                <a:cs typeface="Calibri"/>
              </a:rPr>
              <a:t>The authoritative thread that binds every phase, agent action, policy decision and artifact version.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860DC-B699-4DFC-B575-19769E7C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24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6B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C86B2A"/>
                </a:solidFill>
                <a:latin typeface="Calibri"/>
                <a:ea typeface="Calibri"/>
                <a:cs typeface="Calibri"/>
              </a:rPr>
              <a:t>Without this layer, the system is a collection of automations—not an end-to-end PDLC.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72451-683B-4191-BB7C-B037CEE2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AGENTIC PRODUCT DEVELOPMENT LIFECYCLE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DA6E1-F762-4554-8249-940DEFA3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36651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86583-20C1-4CC6-AC82-562C22B8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CORE DIFFERENTIATOR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F77A3-C4C3-43A5-9F0B-C199605E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Blast radius is a governed prediction—not a guess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1D318-0995-42EA-A8CD-AB5EE953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4e13aa2fe4dfd"/>
          <a:stretch xmlns:a="http://schemas.openxmlformats.org/drawingml/2006/main"/>
        </p:blipFill>
        <p:spPr>
          <a:xfrm xmlns:a="http://schemas.openxmlformats.org/drawingml/2006/main">
            <a:off x="457200" y="2230892"/>
            <a:ext cx="6858000" cy="25676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D998E-3BBB-4F67-B751-48BB0D01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24000"/>
            <a:ext cx="3981450" cy="40957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9024B-74BC-4282-BB32-9458733F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What makes the result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A847B-9BDA-43E1-B864-0EACD053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61C7A-2B54-4DB7-8ABB-2FB2ADE2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28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Multi-signal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22F14-00FD-4D38-9349-1671FA6E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955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D6B7A"/>
                </a:solidFill>
                <a:latin typeface="Calibri"/>
                <a:ea typeface="Calibri"/>
                <a:cs typeface="Calibri"/>
              </a:rPr>
              <a:t>Static dependencies + runtime traces + ownership + change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E1F16-52D5-4C8B-8D46-989D9959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2F20A-DFE6-43BE-849E-6FFD873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289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Typed propagation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F9D2A-6F5C-44AA-A0A2-28147C01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D6B7A"/>
                </a:solidFill>
                <a:latin typeface="Calibri"/>
                <a:ea typeface="Calibri"/>
                <a:cs typeface="Calibri"/>
              </a:rPr>
              <a:t>Different rules for API, data, config, security and behavior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B787B-FCD6-46E7-ABD9-E161C31F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C021C-C193-4718-BED9-0E37DB91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Confidence calibration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49156-AD37-4DA0-8157-A48519A0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D6B7A"/>
                </a:solidFill>
                <a:latin typeface="Calibri"/>
                <a:ea typeface="Calibri"/>
                <a:cs typeface="Calibri"/>
              </a:rPr>
              <a:t>Score coverage, freshness, ambiguity and contradictory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A77FA-23C0-443F-9D83-4AACBF04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39D0F-0F41-4955-8D52-2FED4388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291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Feedback learning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F2388-13A1-47AE-97F3-1C60C8E0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958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D6B7A"/>
                </a:solidFill>
                <a:latin typeface="Calibri"/>
                <a:ea typeface="Calibri"/>
                <a:cs typeface="Calibri"/>
              </a:rPr>
              <a:t>Compare predicted impact with defects, incidents and escaped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BC1BB-8A15-437C-A629-7A6DBE8D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EEE5"/>
          </a:solidFill>
          <a:ln xmlns:a="http://schemas.openxmlformats.org/drawingml/2006/main" w="9525">
            <a:solidFill>
              <a:srgbClr val="E7C7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61AA6-D4B5-49E8-AD68-2B3CF152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6B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C86B2A"/>
                </a:solidFill>
                <a:latin typeface="Calibri"/>
                <a:ea typeface="Calibri"/>
                <a:cs typeface="Calibri"/>
              </a:rPr>
              <a:t>Output: affected components • risk paths • implementation worklist • QA scope • uncertainty •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579FF-E3B0-4087-9622-AE28073E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AGENTIC PRODUCT DEVELOPMENT LIFECYCLE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A5201A-AE73-4735-BB14-C5BB3D1C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366519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718C9-3CEC-4D46-B77D-7C5174B2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ENTERPRISE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C63D5-138F-4942-BC08-BA383195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Trust boundaries and deployment choices preserve client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9AF33-C19B-420F-A627-AB0B90F7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DF235-78DD-475B-BA69-3CF3EDEC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Trust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044F0-15C5-48AA-9C6E-D2B23532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5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F7D5B"/>
                </a:solidFill>
                <a:latin typeface="Calibri"/>
                <a:ea typeface="Calibri"/>
                <a:cs typeface="Calibri"/>
              </a:rPr>
              <a:t>Hybrid deployment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b4bb4497b4817"/>
          <a:stretch xmlns:a="http://schemas.openxmlformats.org/drawingml/2006/main"/>
        </p:blipFill>
        <p:spPr>
          <a:xfrm xmlns:a="http://schemas.openxmlformats.org/drawingml/2006/main">
            <a:off x="514350" y="2275841"/>
            <a:ext cx="5429250" cy="1391918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058a22a7641d3"/>
          <a:stretch xmlns:a="http://schemas.openxmlformats.org/drawingml/2006/main"/>
        </p:blipFill>
        <p:spPr>
          <a:xfrm xmlns:a="http://schemas.openxmlformats.org/drawingml/2006/main">
            <a:off x="6229350" y="2049816"/>
            <a:ext cx="5524500" cy="184396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4248150"/>
          <a:ext xmlns:a="http://schemas.openxmlformats.org/drawingml/2006/main" cx="10972800" cy="175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048250"/>
                <a:gridCol w="3733800"/>
              </a:tblGrid>
              <a:tr h="350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Concern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Framework responsibility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Client control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Identity &amp; secrets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Propagate scoped context; never persist raw credentials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IdP, vault, token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Execution boundary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Sandbox tools; enforce approvals and egress rules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Network zones and runners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Data residency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Route context and artifacts by classification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Storage region and retention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</a:rPr>
                        <a:t>Operational assurance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Durable workflows, replay, telemetry and audit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24364B"/>
                          </a:solidFill>
                          <a:latin typeface="Calibri"/>
                          <a:ea typeface="Calibri"/>
                          <a:cs typeface="Calibri"/>
                        </a:rPr>
                        <a:t>SLOs, incident and change policy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B88A6-DB8B-497B-A44D-8849DDC0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AGENTIC PRODUCT DEVELOPMENT LIFECYCLE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821D5-76D1-4555-A844-0EFBCF53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8496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768496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366519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76C406-A247-4807-ABF5-46171B64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DC7E8"/>
                </a:solidFill>
              </a:defRPr>
            </a:pPr>
            <a:r>
              <a:rPr sz="1050" b="1">
                <a:solidFill>
                  <a:srgbClr val="9DC7E8"/>
                </a:solidFill>
              </a:rPr>
              <a:t>ADOPTION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C54FE-305C-4DC4-A48B-2FE981C8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Standardize governance.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Federate capabilities.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Earn autonomy.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A3786-63CB-4EB6-846B-A0BB0CC0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B3F12-63C1-4D12-8F88-F41B6BBC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DDB2C-21BB-43D9-A2B8-EF1DEDA2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62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Governance kernel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317F0-0174-4C27-9E5F-ED7A46C0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E2EF"/>
                </a:solidFill>
              </a:defRPr>
            </a:pPr>
            <a:r>
              <a:rPr sz="1350" b="0">
                <a:solidFill>
                  <a:srgbClr val="D5E2EF"/>
                </a:solidFill>
              </a:rPr>
              <a:t>State • identity • policy •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490A0-70CA-4691-8D7F-A017C121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B30F7-683A-4CFE-8530-4780E45D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94B5C-34B0-4BAA-928C-B47583D2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Client integrations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AFBBF-3307-4D17-BD5A-36C1EC1F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433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E2EF"/>
                </a:solidFill>
              </a:defRPr>
            </a:pPr>
            <a:r>
              <a:rPr sz="1350" b="0">
                <a:solidFill>
                  <a:srgbClr val="D5E2EF"/>
                </a:solidFill>
              </a:rPr>
              <a:t>Read-only context and system adapters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FF637-1B85-49B5-AFDB-997A1050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01390-4369-4072-8D3B-2695905A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7A980-A8D5-4C39-8CCF-E57697FD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One bounded phase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7BB38-751C-4D74-BC96-1FE39706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148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E2EF"/>
                </a:solidFill>
              </a:defRPr>
            </a:pPr>
            <a:r>
              <a:rPr sz="1350" b="0">
                <a:solidFill>
                  <a:srgbClr val="D5E2EF"/>
                </a:solidFill>
              </a:rPr>
              <a:t>Evidence-rich recommendation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4A17E-FD13-44F3-B70C-BD422088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A7DB2-D8C7-4B27-B3E8-09AE5376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1A514-A71C-4728-BACC-78C875EA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76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Controlled execution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A8ED1-6A92-40A0-9CF2-FC8A7E55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863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E2EF"/>
                </a:solidFill>
              </a:defRPr>
            </a:pPr>
            <a:r>
              <a:rPr sz="1350" b="0">
                <a:solidFill>
                  <a:srgbClr val="D5E2EF"/>
                </a:solidFill>
              </a:rPr>
              <a:t>Isolation • conformance • deterministic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44D79-C751-44D7-9F2B-D92BC5DD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D13DB-B715-4B22-B9BC-2D7B9FBA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E3382-3C32-4589-800D-07D6A404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48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Risk-tiered autonomy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6FC1D-90CE-40F2-873F-DF5A7728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578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E2EF"/>
                </a:solidFill>
              </a:defRPr>
            </a:pPr>
            <a:r>
              <a:rPr sz="1350" b="0">
                <a:solidFill>
                  <a:srgbClr val="D5E2EF"/>
                </a:solidFill>
              </a:rPr>
              <a:t>Expand only from measured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CE55A-0094-461B-A9EC-F374983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9DC7E8"/>
                </a:solidFill>
              </a:defRPr>
            </a:pPr>
            <a:r>
              <a:rPr sz="2100" b="1">
                <a:solidFill>
                  <a:srgbClr val="9DC7E8"/>
                </a:solidFill>
              </a:rPr>
              <a:t>Never confuse replaceability with optional governance.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053E5-1EE2-4D28-93DE-77DC9FF5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The architecture stands when every decision is bounded, evidenced, attributable and replayable—regardless of which client technology implements the 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CBDCC-454E-4B8D-B9C4-26B4C8AD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FC2D4"/>
                </a:solidFill>
              </a:defRPr>
            </a:pPr>
            <a:r>
              <a:rPr sz="825" b="1">
                <a:solidFill>
                  <a:srgbClr val="AFC2D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4815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2026-08-24T16:37:12.9260000Z</dcterms:created>
  <dcterms:modified xsi:type="dcterms:W3CDTF">2026-08-24T16:37:12.9260000Z</dcterms:modified>
</coreProperties>
</file>