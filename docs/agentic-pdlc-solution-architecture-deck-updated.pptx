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45e7d00ea84d58" /><Relationship Type="http://schemas.openxmlformats.org/officeDocument/2006/relationships/extended-properties" Target="/docProps/app.xml" Id="R96a0a1ce0f154c6f" /><Relationship Type="http://schemas.openxmlformats.org/officeDocument/2006/relationships/officeDocument" Target="/ppt/presentation.xml" Id="Rc6469fd1a6a64a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71dc77cfac4fdf"/>
  </p:sldMasterIdLst>
  <p:notesMasterIdLst>
    <p:notesMasterId xmlns:r="http://schemas.openxmlformats.org/officeDocument/2006/relationships" r:id="Rf7c1174248be4102"/>
  </p:notesMasterIdLst>
  <p:sldIdLst>
    <p:sldId xmlns:r="http://schemas.openxmlformats.org/officeDocument/2006/relationships" id="256" r:id="R462c786dd31d49a7"/>
    <p:sldId xmlns:r="http://schemas.openxmlformats.org/officeDocument/2006/relationships" id="257" r:id="R753acc223d5c4d2a"/>
    <p:sldId xmlns:r="http://schemas.openxmlformats.org/officeDocument/2006/relationships" id="258" r:id="R67348ac94b8c4582"/>
    <p:sldId xmlns:r="http://schemas.openxmlformats.org/officeDocument/2006/relationships" id="259" r:id="Rea1086e0db28432e"/>
    <p:sldId xmlns:r="http://schemas.openxmlformats.org/officeDocument/2006/relationships" id="260" r:id="Rf60901e471054912"/>
    <p:sldId xmlns:r="http://schemas.openxmlformats.org/officeDocument/2006/relationships" id="261" r:id="R83b839dec23c4c76"/>
    <p:sldId xmlns:r="http://schemas.openxmlformats.org/officeDocument/2006/relationships" id="262" r:id="Rb5573cadf5394d3f"/>
    <p:sldId xmlns:r="http://schemas.openxmlformats.org/officeDocument/2006/relationships" id="263" r:id="R22058fa48f04449a"/>
    <p:sldId xmlns:r="http://schemas.openxmlformats.org/officeDocument/2006/relationships" id="264" r:id="R5f14973aa3274e93"/>
    <p:sldId xmlns:r="http://schemas.openxmlformats.org/officeDocument/2006/relationships" id="265" r:id="Rd00e122565874f6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aabf38f78474b80" /><Relationship Type="http://schemas.openxmlformats.org/officeDocument/2006/relationships/slideMaster" Target="/ppt/slideMasters/slideMaster1.xml" Id="R2f71dc77cfac4fdf" /><Relationship Type="http://schemas.openxmlformats.org/officeDocument/2006/relationships/notesMaster" Target="/ppt/notesMasters/notesMaster1.xml" Id="Rf7c1174248be4102" /><Relationship Type="http://schemas.openxmlformats.org/officeDocument/2006/relationships/presProps" Target="/ppt/presProps.xml" Id="R8c17865a8a764878" /><Relationship Type="http://schemas.openxmlformats.org/officeDocument/2006/relationships/tableStyles" Target="/ppt/tableStyles.xml" Id="Rac3148f4642c4890" /><Relationship Type="http://schemas.openxmlformats.org/officeDocument/2006/relationships/slide" Target="/ppt/slides/slide1.xml" Id="R462c786dd31d49a7" /><Relationship Type="http://schemas.openxmlformats.org/officeDocument/2006/relationships/slide" Target="/ppt/slides/slide2.xml" Id="R753acc223d5c4d2a" /><Relationship Type="http://schemas.openxmlformats.org/officeDocument/2006/relationships/slide" Target="/ppt/slides/slide3.xml" Id="R67348ac94b8c4582" /><Relationship Type="http://schemas.openxmlformats.org/officeDocument/2006/relationships/slide" Target="/ppt/slides/slide4.xml" Id="Rea1086e0db28432e" /><Relationship Type="http://schemas.openxmlformats.org/officeDocument/2006/relationships/slide" Target="/ppt/slides/slide5.xml" Id="Rf60901e471054912" /><Relationship Type="http://schemas.openxmlformats.org/officeDocument/2006/relationships/slide" Target="/ppt/slides/slide6.xml" Id="R83b839dec23c4c76" /><Relationship Type="http://schemas.openxmlformats.org/officeDocument/2006/relationships/slide" Target="/ppt/slides/slide7.xml" Id="Rb5573cadf5394d3f" /><Relationship Type="http://schemas.openxmlformats.org/officeDocument/2006/relationships/slide" Target="/ppt/slides/slide8.xml" Id="R22058fa48f04449a" /><Relationship Type="http://schemas.openxmlformats.org/officeDocument/2006/relationships/slide" Target="/ppt/slides/slide9.xml" Id="R5f14973aa3274e93" /><Relationship Type="http://schemas.openxmlformats.org/officeDocument/2006/relationships/slide" Target="/ppt/slides/slide10.xml" Id="Rd00e122565874f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7f98b7a96942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765cebbee64e6c" /><Relationship Type="http://schemas.openxmlformats.org/officeDocument/2006/relationships/notesMaster" Target="/ppt/notesMasters/notesMaster1.xml" Id="Re67e814dd153449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00e292da554e4f" /><Relationship Type="http://schemas.openxmlformats.org/officeDocument/2006/relationships/notesMaster" Target="/ppt/notesMasters/notesMaster1.xml" Id="R449049b90b4c42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7b8bcd56074298" /><Relationship Type="http://schemas.openxmlformats.org/officeDocument/2006/relationships/notesMaster" Target="/ppt/notesMasters/notesMaster1.xml" Id="R59019c958e054b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06962e2061403d" /><Relationship Type="http://schemas.openxmlformats.org/officeDocument/2006/relationships/notesMaster" Target="/ppt/notesMasters/notesMaster1.xml" Id="Rb9c4a4f926ff4b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30ac1696a44e74" /><Relationship Type="http://schemas.openxmlformats.org/officeDocument/2006/relationships/notesMaster" Target="/ppt/notesMasters/notesMaster1.xml" Id="R5986f5c6955f4b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04482717e145ee" /><Relationship Type="http://schemas.openxmlformats.org/officeDocument/2006/relationships/notesMaster" Target="/ppt/notesMasters/notesMaster1.xml" Id="R2aa404bf818a412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9055487f8a4000" /><Relationship Type="http://schemas.openxmlformats.org/officeDocument/2006/relationships/notesMaster" Target="/ppt/notesMasters/notesMaster1.xml" Id="R2f3c00e336db4c2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c684730b46f434b" /><Relationship Type="http://schemas.openxmlformats.org/officeDocument/2006/relationships/notesMaster" Target="/ppt/notesMasters/notesMaster1.xml" Id="Rf49a634ae0504a6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4676d43cc7f4d6b" /><Relationship Type="http://schemas.openxmlformats.org/officeDocument/2006/relationships/notesMaster" Target="/ppt/notesMasters/notesMaster1.xml" Id="R00df2dd03bd446d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02dafa064f348a8" /><Relationship Type="http://schemas.openxmlformats.org/officeDocument/2006/relationships/notesMaster" Target="/ppt/notesMasters/notesMaster1.xml" Id="Rd35249a72dad48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architectural stance: AI may propose and execute, but it does not own readiness decisions.</a:t>
            </a:r>
          </a:p>
          <a:p xmlns:a="http://schemas.openxmlformats.org/drawingml/2006/main">
            <a:r>
              <a:t>[Sources] Internal reference implementation and architecture review, 24 Aug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establish the philosophy before discussing technology.</a:t>
            </a:r>
          </a:p>
          <a:p xmlns:a="http://schemas.openxmlformats.org/drawingml/2006/main">
            <a:r>
              <a:t>[Sources] Internal reference implementation and architecture review, 24 Aug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design constraints, not slogans; each maps to an implemented control or an explicit target-state gap.</a:t>
            </a:r>
          </a:p>
          <a:p xmlns:a="http://schemas.openxmlformats.org/drawingml/2006/main">
            <a:r>
              <a:t>[Sources] Internal reference implementation and architecture review, 24 Aug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TestDataProvider row is target-state. The other named agent seams exist in the reference implementation.</a:t>
            </a:r>
          </a:p>
          <a:p xmlns:a="http://schemas.openxmlformats.org/drawingml/2006/main">
            <a:r>
              <a:t>[Sources] Internal reference implementation and architecture review, 24 Aug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top to bottom. The invariant kernel governs dispatch and evidence; intelligence and execution can be client-supplied.</a:t>
            </a:r>
          </a:p>
          <a:p xmlns:a="http://schemas.openxmlformats.org/drawingml/2006/main">
            <a:r>
              <a:t>[Sources] Internal reference implementation and architecture review, 24 Aug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 the two recurring questions directly: scenarios come from four governed inputs; current data setup is reversible at run level, not isolated per scenario.</a:t>
            </a:r>
          </a:p>
          <a:p xmlns:a="http://schemas.openxmlformats.org/drawingml/2006/main">
            <a:r>
              <a:t>[Sources] Internal reference implementation and architecture review, 24 Aug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qualification prevents the most dangerous multi-client failure: a plausible answer assembled from another engagement’s graph.</a:t>
            </a:r>
          </a:p>
          <a:p xmlns:a="http://schemas.openxmlformats.org/drawingml/2006/main">
            <a:r>
              <a:t>[Sources] Internal reference implementation and architecture review, 24 Aug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overstate the metric. The implementation is materially real, but graph completeness and coverage granularity still bound its assurance.</a:t>
            </a:r>
          </a:p>
          <a:p xmlns:a="http://schemas.openxmlformats.org/drawingml/2006/main">
            <a:r>
              <a:t>[Sources] Internal reference implementation and architecture review, 24 Aug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that pluggability does not imply shared credentials or pushed truth. The control plane reconciles independently.</a:t>
            </a:r>
          </a:p>
          <a:p xmlns:a="http://schemas.openxmlformats.org/drawingml/2006/main">
            <a:r>
              <a:t>[Sources] Internal reference implementation and architecture review, 24 Aug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architectural standard: replaceability at the edges, non-negotiable governance at the core.</a:t>
            </a:r>
          </a:p>
          <a:p xmlns:a="http://schemas.openxmlformats.org/drawingml/2006/main">
            <a:r>
              <a:t>[Sources] Internal reference implementation and architecture review, 24 Aug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cdf4893afb43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f77dae216f42a4" /><Relationship Type="http://schemas.openxmlformats.org/officeDocument/2006/relationships/slideLayout" Target="/ppt/slideLayouts/slideLayout1.xml" Id="R1328abbf6cc947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28abbf6cc947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42ead7b04e4df0" /><Relationship Type="http://schemas.openxmlformats.org/officeDocument/2006/relationships/notesSlide" Target="/ppt/notesSlides/notesSlide1.xml" Id="R1d7bd311d41b4c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bc615d925b4761" /><Relationship Type="http://schemas.openxmlformats.org/officeDocument/2006/relationships/notesSlide" Target="/ppt/notesSlides/notesSlide2.xml" Id="Rd52c5ac488a647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7456b52e334b86" /><Relationship Type="http://schemas.openxmlformats.org/officeDocument/2006/relationships/notesSlide" Target="/ppt/notesSlides/notesSlide3.xml" Id="R6b125415705947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55478029f94f04" /><Relationship Type="http://schemas.openxmlformats.org/officeDocument/2006/relationships/notesSlide" Target="/ppt/notesSlides/notesSlide4.xml" Id="R5c7f07fc427b41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1870127a0d4b56" /><Relationship Type="http://schemas.openxmlformats.org/officeDocument/2006/relationships/image" Target="/ppt/media/image.png" Id="R6d91cdac2e354906" /><Relationship Type="http://schemas.openxmlformats.org/officeDocument/2006/relationships/notesSlide" Target="/ppt/notesSlides/notesSlide5.xml" Id="R84655367cac04f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858fb5160f49f8" /><Relationship Type="http://schemas.openxmlformats.org/officeDocument/2006/relationships/image" Target="/ppt/media/image2.png" Id="R1caf8e4e90a74c94" /><Relationship Type="http://schemas.openxmlformats.org/officeDocument/2006/relationships/notesSlide" Target="/ppt/notesSlides/notesSlide6.xml" Id="R87f5eb9f204f45b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cf2fa9892e4b66" /><Relationship Type="http://schemas.openxmlformats.org/officeDocument/2006/relationships/notesSlide" Target="/ppt/notesSlides/notesSlide7.xml" Id="Rfa6ba52cfd804d0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bca629f96849ba" /><Relationship Type="http://schemas.openxmlformats.org/officeDocument/2006/relationships/notesSlide" Target="/ppt/notesSlides/notesSlide8.xml" Id="Rb6d7577568ed495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678d12c2cd4d3c" /><Relationship Type="http://schemas.openxmlformats.org/officeDocument/2006/relationships/notesSlide" Target="/ppt/notesSlides/notesSlide9.xml" Id="R59802af354b148b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6f4812525d492f" /><Relationship Type="http://schemas.openxmlformats.org/officeDocument/2006/relationships/notesSlide" Target="/ppt/notesSlides/notesSlide10.xml" Id="Ra98d8075909f4b6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FF5BE7-B3F0-470D-80F2-F2EA5776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CCE0"/>
                </a:solidFill>
              </a:defRPr>
            </a:pPr>
            <a:r>
              <a:rPr sz="900" b="1">
                <a:solidFill>
                  <a:srgbClr val="B9CCE0"/>
                </a:solidFill>
              </a:rPr>
              <a:t>REFERENCE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8F3660-DAFD-4B35-A3E3-CC6C723F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666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FFFFFF"/>
                </a:solidFill>
              </a:defRPr>
            </a:pPr>
            <a:r>
              <a:rPr sz="3375" b="1">
                <a:solidFill>
                  <a:srgbClr val="FFFFFF"/>
                </a:solidFill>
              </a:rPr>
              <a:t>Agentic Product</a:t>
            </a:r>
          </a:p>
          <a:p xmlns:a="http://schemas.openxmlformats.org/drawingml/2006/main">
            <a:pPr algn="l">
              <a:defRPr sz="3375" b="1">
                <a:solidFill>
                  <a:srgbClr val="FFFFFF"/>
                </a:solidFill>
              </a:defRPr>
            </a:pPr>
            <a:r>
              <a:rPr sz="3375" b="1">
                <a:solidFill>
                  <a:srgbClr val="FFFFFF"/>
                </a:solidFill>
              </a:rPr>
              <a:t>Development Lifecycle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FCD103-128C-48BB-B71B-2AEBAE71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28950"/>
            <a:ext cx="723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6F2"/>
                </a:solidFill>
              </a:defRPr>
            </a:pPr>
            <a:r>
              <a:rPr sz="1650" b="0">
                <a:solidFill>
                  <a:srgbClr val="D9E6F2"/>
                </a:solidFill>
              </a:rPr>
              <a:t>Governed intelligence. Client-owned execution. Evidence-backed progression.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017676-FAE5-41E8-BE79-A7D4CB53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143000"/>
            <a:ext cx="3143250" cy="37147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204461"/>
          </a:solidFill>
          <a:ln xmlns:a="http://schemas.openxmlformats.org/drawingml/2006/main" w="9525">
            <a:solidFill>
              <a:srgbClr val="52759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5D3DD4-40E8-4147-8351-42B92A35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504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CCE0"/>
                </a:solidFill>
              </a:defRPr>
            </a:pPr>
            <a:r>
              <a:rPr sz="1200" b="1">
                <a:solidFill>
                  <a:srgbClr val="B9CCE0"/>
                </a:solidFill>
              </a:rPr>
              <a:t>Architecture position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709412-B613-4AF6-AA04-4C9666CC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764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Standardize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BAA082-8A4F-4BAF-907F-FDA56391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81250"/>
            <a:ext cx="2333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contracts • trust boundaries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evidence semantics • gates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ED3505-DE84-4B46-BDEF-85899F72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29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Federate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261097-16EA-4272-861F-54865540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733800"/>
            <a:ext cx="2333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models • tools • clouds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policies • execution agents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9E0268-29FA-4236-968C-9963A9AD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CCE0"/>
                </a:solidFill>
              </a:defRPr>
            </a:pPr>
            <a:r>
              <a:rPr sz="900" b="1">
                <a:solidFill>
                  <a:srgbClr val="B9CCE0"/>
                </a:solidFill>
              </a:rPr>
              <a:t>Updated to the latest implementation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61685D-E0E4-4077-B823-29C9B1FA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B9CCE0"/>
                </a:solidFill>
              </a:defRPr>
            </a:pPr>
            <a:r>
              <a:rPr sz="675" b="1">
                <a:solidFill>
                  <a:srgbClr val="B9CCE0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493618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2323A8-3B47-4B69-845D-BDAA75E4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17181"/>
                </a:solidFill>
              </a:defRPr>
            </a:pPr>
            <a:r>
              <a:rPr sz="825" b="1">
                <a:solidFill>
                  <a:srgbClr val="617181"/>
                </a:solidFill>
              </a:rPr>
              <a:t>ARCHITECTURAL 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5E542E-2F14-4B16-95A0-D4D676D2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24D"/>
                </a:solidFill>
              </a:defRPr>
            </a:pPr>
            <a:r>
              <a:rPr sz="2175" b="1">
                <a:solidFill>
                  <a:srgbClr val="17324D"/>
                </a:solidFill>
              </a:rPr>
              <a:t>The framework is a governed decision system—not a chain of model calls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F16659-51E7-4072-B369-145C10B2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68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3E77A2-AE2F-4CE9-A4AF-0BE5252D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33143"/>
                </a:solidFill>
              </a:defRPr>
            </a:pPr>
            <a:r>
              <a:rPr sz="1500" b="0">
                <a:solidFill>
                  <a:srgbClr val="233143"/>
                </a:solidFill>
              </a:rPr>
              <a:t>The differentiator is not agent count. It is the quality of the boundaries around authority, evidence and replacement.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32FC52-36B0-4FAA-B1AE-F8199C4E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33813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2D16AB-48C8-4A8B-8D08-4C02A35D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5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657EEB-F867-4AA1-9149-B22B80F2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3019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24D"/>
                </a:solidFill>
              </a:defRPr>
            </a:pPr>
            <a:r>
              <a:rPr sz="1275" b="1">
                <a:solidFill>
                  <a:srgbClr val="17324D"/>
                </a:solidFill>
              </a:rPr>
              <a:t>Agents propose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BCC9A2-4678-49BB-875A-BFD7B3B0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3019425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Designs, plans, code and tests may come from platform agents or client-supplied agents.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CAA70E-9B27-4929-8B56-1B8AFA21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095500"/>
            <a:ext cx="33813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DA6423-EC06-4E47-A794-2FB3C1D3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09550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1DF1B2-4E88-46FA-A493-3E832372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238375"/>
            <a:ext cx="3019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24D"/>
                </a:solidFill>
              </a:defRPr>
            </a:pPr>
            <a:r>
              <a:rPr sz="1275" b="1">
                <a:solidFill>
                  <a:srgbClr val="17324D"/>
                </a:solidFill>
              </a:rPr>
              <a:t>Deterministic controls decide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F10D5C-F951-47EE-8C84-3D87EBE55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71750"/>
            <a:ext cx="3019425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Schemas, scope containment, policy, coverage reconciliation and promotion checks remain framework-owned.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91341F-F4CF-4436-B437-EA78CEC4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3528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B1A681-B42A-4C9E-991D-52BC068C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4EA1AF-BBE5-4B5C-8200-98A594AE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3837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24D"/>
                </a:solidFill>
              </a:defRPr>
            </a:pPr>
            <a:r>
              <a:rPr sz="1275" b="1">
                <a:solidFill>
                  <a:srgbClr val="17324D"/>
                </a:solidFill>
              </a:rPr>
              <a:t>Humans own risk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D3A8D8-BCB6-4A63-A67F-C16BC04E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29908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Approvals and exceptions are attributable, time-bound and supported by versioned evidence.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570C9F-FD8E-42A7-BA53-CE64CDE9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9650"/>
            <a:ext cx="110680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F1AD6A-FA76-4C36-B478-32C7A72D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24D"/>
                </a:solidFill>
              </a:defRPr>
            </a:pPr>
            <a:r>
              <a:rPr sz="1050" b="1">
                <a:solidFill>
                  <a:srgbClr val="17324D"/>
                </a:solidFill>
              </a:rPr>
              <a:t>North-star outcome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EC7DC4-B1CD-401B-ADD7-A4AB84EE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7685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Increase delivery throughput while preserving—or strengthening—traceability, containment, client sovereignty and release confidence.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AD59F6-4B49-4966-BD9E-C50CD33B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17181"/>
                </a:solidFill>
              </a:defRPr>
            </a:pPr>
            <a:r>
              <a:rPr sz="675" b="1">
                <a:solidFill>
                  <a:srgbClr val="617181"/>
                </a:solidFill>
              </a:rPr>
              <a:t>AGENTIC PDLC  •  UPDATED 24 AUG 2026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89B961-39E7-49CD-A4F0-615F21F6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17181"/>
                </a:solidFill>
              </a:defRPr>
            </a:pPr>
            <a:r>
              <a:rPr sz="675" b="1">
                <a:solidFill>
                  <a:srgbClr val="617181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145747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DD194F-1204-4E31-960B-A0252FCC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17181"/>
                </a:solidFill>
              </a:defRPr>
            </a:pPr>
            <a:r>
              <a:rPr sz="825" b="1">
                <a:solidFill>
                  <a:srgbClr val="617181"/>
                </a:solidFill>
              </a:rPr>
              <a:t>KEY TENETS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CFB576-F759-4402-88CD-51D51DFB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24D"/>
                </a:solidFill>
              </a:defRPr>
            </a:pPr>
            <a:r>
              <a:rPr sz="2175" b="1">
                <a:solidFill>
                  <a:srgbClr val="17324D"/>
                </a:solidFill>
              </a:rPr>
              <a:t>Six tenets hold the architecture together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A0DEAD-7369-420B-B68F-D29E285C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68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42440E-A3A2-4D4F-9991-4B5E9F13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52387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D6ED75-9615-4FFE-9823-58BEA94E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75B6"/>
                </a:solidFill>
              </a:defRPr>
            </a:pPr>
            <a:r>
              <a:rPr sz="1125" b="1">
                <a:solidFill>
                  <a:srgbClr val="2E75B6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10F4F5-78F0-4F78-B771-C00B600E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6002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Agents propose; gates decide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F981A1-E16C-440F-8F12-1AA0DD19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52625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Probabilistic components cannot self-approve.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7EC921-C1C3-4150-9B18-2D95504B2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428750"/>
            <a:ext cx="52387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4FE6C8-8550-434D-8889-C82D53B5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002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75B6"/>
                </a:solidFill>
              </a:defRPr>
            </a:pPr>
            <a:r>
              <a:rPr sz="1125" b="1">
                <a:solidFill>
                  <a:srgbClr val="2E75B6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02D4CD-EBDE-4103-AD7F-B09310FD1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6002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Evidence is the currency of progression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A458A6-6E21-4695-91C3-80FAD5CF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52625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A phase completes when required evidence exists.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B8E4D1-0014-4A40-8C82-52B967D3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05125"/>
            <a:ext cx="52387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6F8D51-470A-4323-920E-83F7CF02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765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75B6"/>
                </a:solidFill>
              </a:defRPr>
            </a:pPr>
            <a:r>
              <a:rPr sz="1125" b="1">
                <a:solidFill>
                  <a:srgbClr val="2E75B6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1F0EB4-EDC0-4A45-9387-BCDE19BD1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765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Context is federated, not duplicated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19DA18-6CC4-4247-8478-037C9475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2900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Sources of record remain authoritative; context carries pointers and provenance.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C44493-F39A-4797-96C9-E5CB44F1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05125"/>
            <a:ext cx="52387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2D4B9D-1B1C-4F03-88A6-964E6448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765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75B6"/>
                </a:solidFill>
              </a:defRPr>
            </a:pPr>
            <a:r>
              <a:rPr sz="1125" b="1">
                <a:solidFill>
                  <a:srgbClr val="2E75B6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F65D64-BE27-4EC4-9937-C220F3C7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0765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Autonomy is bounded by risk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915B66-92E2-4556-A5EB-6D3957B0B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2900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Policy sets autonomy from impact, reversibility and uncertainty.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809364-73DB-482E-9D93-58EF71DD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0"/>
            <a:ext cx="52387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8E4398-A6AB-4044-89A2-8EBA33012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75B6"/>
                </a:solidFill>
              </a:defRPr>
            </a:pPr>
            <a:r>
              <a:rPr sz="1125" b="1">
                <a:solidFill>
                  <a:srgbClr val="2E75B6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84E71E-9300-490A-BA94-47D9E086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529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Ports vary; semantics remain invariant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0A747D-269D-40E6-95D3-6D4CDED8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05375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Clients replace implementations behind versioned capability contracts.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3CCE9B-6669-45D2-A8B9-EE5C65DF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381500"/>
            <a:ext cx="52387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DB096C-109B-4FB0-8CB3-BC03761A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529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75B6"/>
                </a:solidFill>
              </a:defRPr>
            </a:pPr>
            <a:r>
              <a:rPr sz="1125" b="1">
                <a:solidFill>
                  <a:srgbClr val="2E75B6"/>
                </a:solidFill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C81E35-1848-466C-9EAB-AACDD999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5529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Every assurance claim is measured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13A15D-9203-4095-B699-BC6AFE99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905375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Coverage and blast radius disclose scope, quality and limits.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FBF734-6ACB-4C8B-A0CE-3337D7DA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17181"/>
                </a:solidFill>
              </a:defRPr>
            </a:pPr>
            <a:r>
              <a:rPr sz="675" b="1">
                <a:solidFill>
                  <a:srgbClr val="617181"/>
                </a:solidFill>
              </a:rPr>
              <a:t>AGENTIC PDLC  •  UPDATED 24 AUG 2026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766811-8167-41DF-A08C-53DCF1E62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17181"/>
                </a:solidFill>
              </a:defRPr>
            </a:pPr>
            <a:r>
              <a:rPr sz="675" b="1">
                <a:solidFill>
                  <a:srgbClr val="617181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401893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01860A-CEB2-4B53-A616-B58ACAE1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17181"/>
                </a:solidFill>
              </a:defRPr>
            </a:pPr>
            <a:r>
              <a:rPr sz="825" b="1">
                <a:solidFill>
                  <a:srgbClr val="617181"/>
                </a:solidFill>
              </a:rPr>
              <a:t>BYO / PLUGGABILITY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DEF93A-79D3-4E56-A414-4F8335D9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24D"/>
                </a:solidFill>
              </a:defRPr>
            </a:pPr>
            <a:r>
              <a:rPr sz="2175" b="1">
                <a:solidFill>
                  <a:srgbClr val="17324D"/>
                </a:solidFill>
              </a:rPr>
              <a:t>Bring your own capabilities—without bringing your own governance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913151-42B4-48FD-9516-1C7E5939D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68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953853-C4A0-4869-9E81-3ED66E70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30194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EF0D60-C635-481D-A640-5BF736FA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Extension seam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077090-0D5E-4A7D-9A48-0593FD85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428750"/>
            <a:ext cx="3667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9E5ECD-DD35-47DD-A8B7-D0459E72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4763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Client may provide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2CD0E0-85D9-4626-9DE3-D615C397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28750"/>
            <a:ext cx="438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4FD103-A954-460D-96CE-2781BE7F5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476375"/>
            <a:ext cx="414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Framework retains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86BB3A-A3E2-45F4-A1DC-BE1B5F6B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28800"/>
            <a:ext cx="11068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6042CD-DC5F-4D7D-AAEA-E13D4842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43100"/>
            <a:ext cx="271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24D"/>
                </a:solidFill>
              </a:defRPr>
            </a:pPr>
            <a:r>
              <a:rPr sz="1050" b="1">
                <a:solidFill>
                  <a:srgbClr val="17324D"/>
                </a:solidFill>
              </a:rPr>
              <a:t>DesignAgent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992F09-C088-4CF7-AFA9-7C331E87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2405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Inline service or dispatched design agent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23DF44-1DC1-4493-8FAE-92E3280B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92405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Catalogue review, schema and policy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0DEEAA-BD8D-4992-957F-46A73A79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09850"/>
            <a:ext cx="11068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9525">
            <a:solidFill>
              <a:srgbClr val="CBD7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33A274-1E8D-4E11-9922-C7D71E436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271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24D"/>
                </a:solidFill>
              </a:defRPr>
            </a:pPr>
            <a:r>
              <a:rPr sz="1050" b="1">
                <a:solidFill>
                  <a:srgbClr val="17324D"/>
                </a:solidFill>
              </a:rPr>
              <a:t>TestAuthor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4B92F1-184C-4572-9F7D-0A8CFAE9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0510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Planner/spec author, sync or dispatched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14CADA-1024-411A-B804-BB40B92E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051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Testability, required regressions, spec validation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A46AF7-8290-48E5-840A-34002A3B6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90900"/>
            <a:ext cx="11068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B01177-46BF-4515-A4C0-F47C290B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05200"/>
            <a:ext cx="271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24D"/>
                </a:solidFill>
              </a:defRPr>
            </a:pPr>
            <a:r>
              <a:rPr sz="1050" b="1">
                <a:solidFill>
                  <a:srgbClr val="17324D"/>
                </a:solidFill>
              </a:rPr>
              <a:t>Implementation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94BB58-8A2B-4AA5-9D99-A61BE5630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8615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Client cloud coding agent via WorkDispatch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95FCC0-7A5F-4743-8DAF-73B1393B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8615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Capability check, scope review, fallback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B8502C-545D-4897-A87A-CE676012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71950"/>
            <a:ext cx="11068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9525">
            <a:solidFill>
              <a:srgbClr val="CBD7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7FC5BD-E2BD-4FA6-AF5D-C04CC0C4D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271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24D"/>
                </a:solidFill>
              </a:defRPr>
            </a:pPr>
            <a:r>
              <a:rPr sz="1050" b="1">
                <a:solidFill>
                  <a:srgbClr val="17324D"/>
                </a:solidFill>
              </a:rPr>
              <a:t>Test data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B3C246-3B14-45FE-985C-3E5B8521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6720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Database/fixture/environment provider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EB2DD7-78AB-42B7-985E-207BC695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2672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Lease lifecycle and cleanup evidence contract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0773A1-3B18-4961-8D68-DBB2FB64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11068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9E296D-D03B-45B7-98F0-3B494D0F3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67300"/>
            <a:ext cx="271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24D"/>
                </a:solidFill>
              </a:defRPr>
            </a:pPr>
            <a:r>
              <a:rPr sz="1050" b="1">
                <a:solidFill>
                  <a:srgbClr val="17324D"/>
                </a:solidFill>
              </a:rPr>
              <a:t>Models &amp; tools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167356-1B3E-40A4-95BF-209BD153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4825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LLM, SCM, CI, policy, evidence stores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8D65BE-5255-4742-95E9-A48328AB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04825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Identity, result envelope, audit and gates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5056FE-FAE5-425B-A35B-513F3E35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17181"/>
                </a:solidFill>
              </a:defRPr>
            </a:pPr>
            <a:r>
              <a:rPr sz="675" b="1">
                <a:solidFill>
                  <a:srgbClr val="617181"/>
                </a:solidFill>
              </a:rPr>
              <a:t>AGENTIC PDLC  •  UPDATED 24 AUG 2026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3AE1D3-14A9-4C4E-93CC-04944011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17181"/>
                </a:solidFill>
              </a:defRPr>
            </a:pPr>
            <a:r>
              <a:rPr sz="675" b="1">
                <a:solidFill>
                  <a:srgbClr val="617181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824210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407644-65D7-4B93-A3C9-8CAABC70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17181"/>
                </a:solidFill>
              </a:defRPr>
            </a:pPr>
            <a:r>
              <a:rPr sz="825" b="1">
                <a:solidFill>
                  <a:srgbClr val="617181"/>
                </a:solidFill>
              </a:rPr>
              <a:t>LOGICAL 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A30B0B-6E37-40A5-A0DF-28767FF0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24D"/>
                </a:solidFill>
              </a:defRPr>
            </a:pPr>
            <a:r>
              <a:rPr sz="2175" b="1">
                <a:solidFill>
                  <a:srgbClr val="17324D"/>
                </a:solidFill>
              </a:rPr>
              <a:t>End-to-end solution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F48F4C-6732-4EEC-AC24-14FFA9345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68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91cdac2e354906"/>
          <a:stretch xmlns:a="http://schemas.openxmlformats.org/drawingml/2006/main"/>
        </p:blipFill>
        <p:spPr>
          <a:xfrm xmlns:a="http://schemas.openxmlformats.org/drawingml/2006/main">
            <a:off x="1468499" y="1285875"/>
            <a:ext cx="9255002" cy="48101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AA8EC2-1235-462F-B4CE-FCB50DD60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5315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17181"/>
                </a:solidFill>
              </a:defRPr>
            </a:pPr>
            <a:r>
              <a:rPr sz="975" b="1">
                <a:solidFill>
                  <a:srgbClr val="617181"/>
                </a:solidFill>
              </a:rPr>
              <a:t>Stable planes, replaceable implementations, project-scoped context and client-owned execution.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95D945-E369-4522-A530-8947199E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17181"/>
                </a:solidFill>
              </a:defRPr>
            </a:pPr>
            <a:r>
              <a:rPr sz="675" b="1">
                <a:solidFill>
                  <a:srgbClr val="617181"/>
                </a:solidFill>
              </a:rPr>
              <a:t>AGENTIC PDLC  •  UPDATED 24 AUG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5A7EE4-423F-4897-BD53-E8B18F2D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17181"/>
                </a:solidFill>
              </a:defRPr>
            </a:pPr>
            <a:r>
              <a:rPr sz="675" b="1">
                <a:solidFill>
                  <a:srgbClr val="617181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257010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63C2C9-CD50-433A-AB5C-EC6C429C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17181"/>
                </a:solidFill>
              </a:defRPr>
            </a:pPr>
            <a:r>
              <a:rPr sz="825" b="1">
                <a:solidFill>
                  <a:srgbClr val="617181"/>
                </a:solidFill>
              </a:rPr>
              <a:t>QA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9B3751-DC4F-4E09-A946-7C4C7A59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24D"/>
                </a:solidFill>
              </a:defRPr>
            </a:pPr>
            <a:r>
              <a:rPr sz="2175" b="1">
                <a:solidFill>
                  <a:srgbClr val="17324D"/>
                </a:solidFill>
              </a:rPr>
              <a:t>QA turns change context into governed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E5F62B-8DAF-4888-94ED-76DB3BEA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68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af8e4e90a74c94"/>
          <a:stretch xmlns:a="http://schemas.openxmlformats.org/drawingml/2006/main"/>
        </p:blipFill>
        <p:spPr>
          <a:xfrm xmlns:a="http://schemas.openxmlformats.org/drawingml/2006/main">
            <a:off x="457200" y="1384766"/>
            <a:ext cx="11277600" cy="351696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C150F8-A0E8-4440-AFF6-6E9D733B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95875"/>
            <a:ext cx="33337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07BE19-E4FF-4128-AE27-DFA254A3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95875"/>
            <a:ext cx="666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5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9EAC5F-F1BD-494E-8677-E7F9C7973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24D"/>
                </a:solidFill>
              </a:defRPr>
            </a:pPr>
            <a:r>
              <a:rPr sz="1275" b="1">
                <a:solidFill>
                  <a:srgbClr val="17324D"/>
                </a:solidFill>
              </a:rPr>
              <a:t>Scenario sources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B37BF8-E24F-43BF-88A9-F957DB5F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Diff + acceptance criteria + project graph + approved library.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DB7CCF-4ED8-4C93-9746-A0B93B47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095875"/>
            <a:ext cx="33337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5EBF56-CFB3-4794-B72B-0469AB49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095875"/>
            <a:ext cx="666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8ACA5C-B34B-4177-9159-DD6B73C4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523875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24D"/>
                </a:solidFill>
              </a:defRPr>
            </a:pPr>
            <a:r>
              <a:rPr sz="1275" b="1">
                <a:solidFill>
                  <a:srgbClr val="17324D"/>
                </a:solidFill>
              </a:rPr>
              <a:t>Current data control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3A1E19-F700-4B31-AABB-B1E62E5B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5572125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Deterministic seed, run snapshot, serial mutation fallback and finally-path restore.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F3F9C1-F1E9-41F8-B8CE-6F736745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095875"/>
            <a:ext cx="33147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9D8F78-C773-4B60-96D9-AA46F66C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095875"/>
            <a:ext cx="666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75B9E9-7C82-4291-B939-870B766B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2387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24D"/>
                </a:solidFill>
              </a:defRPr>
            </a:pPr>
            <a:r>
              <a:rPr sz="1275" b="1">
                <a:solidFill>
                  <a:srgbClr val="17324D"/>
                </a:solidFill>
              </a:rPr>
              <a:t>Target data control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AC4544-356A-4F1A-9D7B-C18C11B4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5721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TestDataProvider leases isolated fixtures and emits cleanup evidence.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018447-3C25-4CAD-8FF0-8F8806C9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17181"/>
                </a:solidFill>
              </a:defRPr>
            </a:pPr>
            <a:r>
              <a:rPr sz="675" b="1">
                <a:solidFill>
                  <a:srgbClr val="617181"/>
                </a:solidFill>
              </a:rPr>
              <a:t>AGENTIC PDLC  •  UPDATED 24 AUG 2026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6C8DEA-2859-4E52-B951-1F2FEDDE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17181"/>
                </a:solidFill>
              </a:defRPr>
            </a:pPr>
            <a:r>
              <a:rPr sz="675" b="1">
                <a:solidFill>
                  <a:srgbClr val="617181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852026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8CA9B1-7C57-4F77-92B4-ED70BDA3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17181"/>
                </a:solidFill>
              </a:defRPr>
            </a:pPr>
            <a:r>
              <a:rPr sz="825" b="1">
                <a:solidFill>
                  <a:srgbClr val="617181"/>
                </a:solidFill>
              </a:rPr>
              <a:t>PROJECT + HYDRATION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692681-BE77-4A37-BAD6-061C1BCC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24D"/>
                </a:solidFill>
              </a:defRPr>
            </a:pPr>
            <a:r>
              <a:rPr sz="2175" b="1">
                <a:solidFill>
                  <a:srgbClr val="17324D"/>
                </a:solidFill>
              </a:rPr>
              <a:t>Project scope is an architectural boundary, not a UI filter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CABAEA-EFE8-4F19-B617-DB9B7DC3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68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7BBA19-183C-4101-A7CD-CF39055A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3333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65CC94-CA1B-425F-8817-46355D5C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A7DD23-09C5-445C-8ED3-C5A0FDDBB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24D"/>
                </a:solidFill>
              </a:defRPr>
            </a:pPr>
            <a:r>
              <a:rPr sz="1275" b="1">
                <a:solidFill>
                  <a:srgbClr val="17324D"/>
                </a:solidFill>
              </a:rPr>
              <a:t>Active project selects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B71FDE-2613-403D-A401-3A2A46B0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297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Engagement configuration</a:t>
            </a:r>
          </a:p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Repository and revision scope</a:t>
            </a:r>
          </a:p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Knowledge sources</a:t>
            </a:r>
          </a:p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Runtime adapter choices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B0FC64-A3EB-4748-A873-C7B7EBC9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28750"/>
            <a:ext cx="3333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B72BED-012C-4A03-98C1-C6BADBED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2875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7BC8F6-B15C-40C6-B71D-2789EB38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571625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24D"/>
                </a:solidFill>
              </a:defRPr>
            </a:pPr>
            <a:r>
              <a:rPr sz="1275" b="1">
                <a:solidFill>
                  <a:srgbClr val="17324D"/>
                </a:solidFill>
              </a:rPr>
              <a:t>Hydration operates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B8DB37-F170-44CC-A750-7570F65E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905000"/>
            <a:ext cx="297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Index → graph → retrieval → export</a:t>
            </a:r>
          </a:p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Delta refresh after change</a:t>
            </a:r>
          </a:p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Freshness and quality recorded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CAEB08-30C7-48AF-8DBC-D7A12F67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428750"/>
            <a:ext cx="33147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E048E3-7E05-4A63-B218-20B41AFC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42875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5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3D0AB0-0CE5-493A-AB4A-3D8BA0D0F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5716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24D"/>
                </a:solidFill>
              </a:defRPr>
            </a:pPr>
            <a:r>
              <a:rPr sz="1275" b="1">
                <a:solidFill>
                  <a:srgbClr val="17324D"/>
                </a:solidFill>
              </a:rPr>
              <a:t>Isolation is structural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3AF913-DBE7-4EA9-9C2B-69AF8355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905000"/>
            <a:ext cx="2952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Project-qualified identities</a:t>
            </a:r>
          </a:p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No cross-project graph deletion</a:t>
            </a:r>
          </a:p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No silent identity collision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929FC8-2360-448F-ABE3-E0C1E35B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718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Why this matters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517AE9-25E7-4D16-91FA-5B49755C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685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33143"/>
                </a:solidFill>
              </a:defRPr>
            </a:pPr>
            <a:r>
              <a:rPr sz="1500" b="0">
                <a:solidFill>
                  <a:srgbClr val="233143"/>
                </a:solidFill>
              </a:rPr>
              <a:t>Blast radius, retrieval, test selection and evidence are only credible when every assertion resolves to the correct engagement and source revision.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447E2C-A23A-4C5A-A5FC-213C7483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19500"/>
            <a:ext cx="3619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9566B5-B5B7-4A92-AC5C-09CF6633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576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24D"/>
                </a:solidFill>
              </a:defRPr>
            </a:pPr>
            <a:r>
              <a:rPr sz="1125" b="1">
                <a:solidFill>
                  <a:srgbClr val="17324D"/>
                </a:solidFill>
              </a:rPr>
              <a:t>Invariant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4C0705-D70A-44DB-B9E3-F9C63011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910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D"/>
                </a:solidFill>
              </a:defRPr>
            </a:pPr>
            <a:r>
              <a:rPr sz="1200" b="0">
                <a:solidFill>
                  <a:srgbClr val="17324D"/>
                </a:solidFill>
              </a:rPr>
              <a:t>Project switching may change implementations and data. It must never change the meaning of evidence, gates or result status.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58FF9F-D6DE-492F-B491-34E8F103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17181"/>
                </a:solidFill>
              </a:defRPr>
            </a:pPr>
            <a:r>
              <a:rPr sz="675" b="1">
                <a:solidFill>
                  <a:srgbClr val="617181"/>
                </a:solidFill>
              </a:rPr>
              <a:t>AGENTIC PDLC  •  UPDATED 24 AUG 2026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F7BF93-F156-45CA-8007-2F3D1B9E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17181"/>
                </a:solidFill>
              </a:defRPr>
            </a:pPr>
            <a:r>
              <a:rPr sz="675" b="1">
                <a:solidFill>
                  <a:srgbClr val="617181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566507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258B84-B426-4EB7-8DE4-8AB205E8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17181"/>
                </a:solidFill>
              </a:defRPr>
            </a:pPr>
            <a:r>
              <a:rPr sz="825" b="1">
                <a:solidFill>
                  <a:srgbClr val="617181"/>
                </a:solidFill>
              </a:rPr>
              <a:t>IMPACT + QA ASSURANCE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3C93A3-D936-4FDB-9ECE-6DDDEDDA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24D"/>
                </a:solidFill>
              </a:defRPr>
            </a:pPr>
            <a:r>
              <a:rPr sz="2175" b="1">
                <a:solidFill>
                  <a:srgbClr val="17324D"/>
                </a:solidFill>
              </a:rPr>
              <a:t>Blast radius is useful because its limits are explicit and gated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09B17A-A0A8-44B7-8EA6-AE03FE52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68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78E8D2-2002-484F-B682-47F445AD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461962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75B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D73876-921F-4893-A163-AF5F5267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75B6"/>
                </a:solidFill>
              </a:defRPr>
            </a:pPr>
            <a:r>
              <a:rPr sz="1200" b="1">
                <a:solidFill>
                  <a:srgbClr val="2E75B6"/>
                </a:solidFill>
              </a:rPr>
              <a:t>Changed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A69B8F-6D89-4507-8C9D-AF607DC25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6002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Diff-resolved files and modules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78152F-5719-49E4-AF7B-B221B388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461962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7D6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78FC64-CF86-4FF4-AF4E-3253ADB7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7D61"/>
                </a:solidFill>
              </a:defRPr>
            </a:pPr>
            <a:r>
              <a:rPr sz="1200" b="1">
                <a:solidFill>
                  <a:srgbClr val="2E7D61"/>
                </a:solidFill>
              </a:rPr>
              <a:t>Dependent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C20446-CCC1-468F-94B4-FB8DE612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4574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Typed dependency paths from the project graph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8492E2-B7CB-402C-B0C1-DCEBD3A0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461962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772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AA00E2-E816-4213-BD7B-6659EF18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772C"/>
                </a:solidFill>
              </a:defRPr>
            </a:pPr>
            <a:r>
              <a:rPr sz="1200" b="1">
                <a:solidFill>
                  <a:srgbClr val="C7772C"/>
                </a:solidFill>
              </a:rPr>
              <a:t>Uncovered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20B2B7-8274-40C7-A375-F1FFFD51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3147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Impacted areas without an approved script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BFFF41-50CD-41EA-B911-D271684D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461962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655A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CFAC1B-FBEE-4FE4-A54F-1A21617C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0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655A6"/>
                </a:solidFill>
              </a:defRPr>
            </a:pPr>
            <a:r>
              <a:rPr sz="1200" b="1">
                <a:solidFill>
                  <a:srgbClr val="7655A6"/>
                </a:solidFill>
              </a:rPr>
              <a:t>Required regressions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C45C78-CF78-45C4-95D5-8D362BE7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1719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Existing covering scripts installed by code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E0905F-71B4-44A7-8C53-B0A5B6B5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24000"/>
            <a:ext cx="59055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3F67C0-391F-4CCE-A926-6A503A16A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5260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What the current reference can legitimately claim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D50555-EDA4-4D0E-87F6-133C9CA7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266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4484F8-B3C7-4C2F-8D94-C5DC8413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43125"/>
            <a:ext cx="500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33143"/>
                </a:solidFill>
              </a:defRPr>
            </a:pPr>
            <a:r>
              <a:rPr sz="1050" b="0">
                <a:solidFill>
                  <a:srgbClr val="233143"/>
                </a:solidFill>
              </a:rPr>
              <a:t>Impact is derived from changed paths and typed graph relationships.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3F2C11-0475-4E11-B84A-8E201EF6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724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EA8C0D-150C-4AFA-A811-A69E8F59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00325"/>
            <a:ext cx="500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33143"/>
                </a:solidFill>
              </a:defRPr>
            </a:pPr>
            <a:r>
              <a:rPr sz="1050" b="0">
                <a:solidFill>
                  <a:srgbClr val="233143"/>
                </a:solidFill>
              </a:rPr>
              <a:t>Required regressions are enforced, not left in an agent prompt.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28CBDE-12AB-49A6-B218-3215F587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81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160FF8-4E85-4360-A7B8-F2125911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57525"/>
            <a:ext cx="500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33143"/>
                </a:solidFill>
              </a:defRPr>
            </a:pPr>
            <a:r>
              <a:rPr sz="1050" b="0">
                <a:solidFill>
                  <a:srgbClr val="233143"/>
                </a:solidFill>
              </a:rPr>
              <a:t>Observed coverage credits only server-served requests.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97CFAD-957D-43EF-BAAC-B097513C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638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57F4B9-739A-41A1-9238-E55D4D8B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14725"/>
            <a:ext cx="500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33143"/>
                </a:solidFill>
              </a:defRPr>
            </a:pPr>
            <a:r>
              <a:rPr sz="1050" b="0">
                <a:solidFill>
                  <a:srgbClr val="233143"/>
                </a:solidFill>
              </a:rPr>
              <a:t>Intercepted requests remain visible but earn no coverage.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D3ADCA-2D6A-44C5-861A-66ABE9D9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095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5FF52A-5406-4B34-8604-555DDAE4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71925"/>
            <a:ext cx="500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33143"/>
                </a:solidFill>
              </a:defRPr>
            </a:pPr>
            <a:r>
              <a:rPr sz="1050" b="0">
                <a:solidFill>
                  <a:srgbClr val="233143"/>
                </a:solidFill>
              </a:rPr>
              <a:t>Coverage proves route/file reach—not branch or statement completeness.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19C9C5-3C00-48A3-89B8-024352E7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57800"/>
            <a:ext cx="110680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BC2202-CB6E-4F71-BC7E-235D7878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006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772C"/>
                </a:solidFill>
              </a:defRPr>
            </a:pPr>
            <a:r>
              <a:rPr sz="1050" b="1">
                <a:solidFill>
                  <a:srgbClr val="C7772C"/>
                </a:solidFill>
              </a:rPr>
              <a:t>Principal-architect position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42673A-9E58-4E8B-8F99-6A4BA5F9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334000"/>
            <a:ext cx="823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Treat the result as versioned decision support with provenance and uncertainty—not as an oracle.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04D5B5-6679-4E3F-AD5E-5E52DE36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17181"/>
                </a:solidFill>
              </a:defRPr>
            </a:pPr>
            <a:r>
              <a:rPr sz="675" b="1">
                <a:solidFill>
                  <a:srgbClr val="617181"/>
                </a:solidFill>
              </a:rPr>
              <a:t>AGENTIC PDLC  •  UPDATED 24 AUG 2026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7D6B3E-3E69-4447-8738-E949DE29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17181"/>
                </a:solidFill>
              </a:defRPr>
            </a:pPr>
            <a:r>
              <a:rPr sz="675" b="1">
                <a:solidFill>
                  <a:srgbClr val="617181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536423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242827-322A-4855-860E-090D68FC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17181"/>
                </a:solidFill>
              </a:defRPr>
            </a:pPr>
            <a:r>
              <a:rPr sz="825" b="1">
                <a:solidFill>
                  <a:srgbClr val="617181"/>
                </a:solidFill>
              </a:rPr>
              <a:t>OPERATING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2123A0-1FE4-42F8-9868-F9F5235A7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24D"/>
                </a:solidFill>
              </a:defRPr>
            </a:pPr>
            <a:r>
              <a:rPr sz="2175" b="1">
                <a:solidFill>
                  <a:srgbClr val="17324D"/>
                </a:solidFill>
              </a:rPr>
              <a:t>Evidence and privilege separation make remote execution governable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816FE8-24EA-4C66-AAE7-41EBF32D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68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EB7B2B-F72E-4A17-AEFC-8CA5D76B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2476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FA6DAA-B079-49B5-83BE-7D8322DD2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7F26F7-3BA3-43CC-86D3-7D66CE58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D4424C-703A-465E-A102-BBF234F1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90700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Dispatch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A5BE68-41D5-4FD9-B8F0-DC52B613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2057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33143"/>
                </a:solidFill>
              </a:defRPr>
            </a:pPr>
            <a:r>
              <a:rPr sz="1050" b="0">
                <a:solidFill>
                  <a:srgbClr val="233143"/>
                </a:solidFill>
              </a:rPr>
              <a:t>Capability-checked request with project, revision and policy 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EC3AE8-DFC8-4967-BB4A-FD0391A48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57450"/>
            <a:ext cx="28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17181"/>
                </a:solidFill>
              </a:defRPr>
            </a:pPr>
            <a:r>
              <a:rPr sz="1875" b="1">
                <a:solidFill>
                  <a:srgbClr val="617181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C80A9C-FFC5-460B-BEC9-BAE259CC5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619250"/>
            <a:ext cx="2476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151F51-BE8F-4DB6-A507-0732B5BF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90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5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400CE6-0CDB-4A3A-A000-C2287F7D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8097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3F0657-4D41-4960-97F1-A87FA1C2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790700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Execute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E0B80B-0255-4260-9FA6-213AC820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43150"/>
            <a:ext cx="2057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33143"/>
                </a:solidFill>
              </a:defRPr>
            </a:pPr>
            <a:r>
              <a:rPr sz="1050" b="0">
                <a:solidFill>
                  <a:srgbClr val="233143"/>
                </a:solidFill>
              </a:rPr>
              <a:t>Client CI or coding agent works in a bounded branch / runner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8BDCF0-2F1D-4C9B-A86B-BE3622F2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57450"/>
            <a:ext cx="28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17181"/>
                </a:solidFill>
              </a:defRPr>
            </a:pPr>
            <a:r>
              <a:rPr sz="1875" b="1">
                <a:solidFill>
                  <a:srgbClr val="617181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8FC652-6909-4E7B-97E3-A8FC2CB8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619250"/>
            <a:ext cx="2476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520D69-3C82-4F33-932D-6872F4EBA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90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8BF30D-F3B4-45DB-A144-5D762BAF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097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FA6E4F-21A9-4286-8821-1A6AC79C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790700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Report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57FB5F-50BF-4113-B45B-D66F4938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2057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33143"/>
                </a:solidFill>
              </a:defRPr>
            </a:pPr>
            <a:r>
              <a:rPr sz="1050" b="0">
                <a:solidFill>
                  <a:srgbClr val="233143"/>
                </a:solidFill>
              </a:rPr>
              <a:t>Trusted reporter reconciles results; execution holds no write token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F942AE-58B6-4C73-BB3F-61E0B050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57450"/>
            <a:ext cx="28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17181"/>
                </a:solidFill>
              </a:defRPr>
            </a:pPr>
            <a:r>
              <a:rPr sz="1875" b="1">
                <a:solidFill>
                  <a:srgbClr val="617181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434C5B-0D11-4CB4-9B7E-C654ED96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619250"/>
            <a:ext cx="2476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E29FE7-697B-4DC9-B7E2-5B888AAF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790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7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2678C8-CC39-4839-81C1-5F60D99B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097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B64ABD-142B-4DBA-8FF5-926D9469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790700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Promote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DF6737-3207-44A2-B301-7A5CB18C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43150"/>
            <a:ext cx="2057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33143"/>
                </a:solidFill>
              </a:defRPr>
            </a:pPr>
            <a:r>
              <a:rPr sz="1050" b="0">
                <a:solidFill>
                  <a:srgbClr val="233143"/>
                </a:solidFill>
              </a:rPr>
              <a:t>Passing generated specs become reviewable source + SHA-256 + provenance bundles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F19A06-5055-4275-B4D9-BEC422D7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38625"/>
            <a:ext cx="110680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28D3DF-4205-42DF-970D-4A30CEF5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The trust boundary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01F9C2-DD63-41C6-9198-E6923AB9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24D"/>
                </a:solidFill>
              </a:defRPr>
            </a:pPr>
            <a:r>
              <a:rPr sz="1275" b="0">
                <a:solidFill>
                  <a:srgbClr val="17324D"/>
                </a:solidFill>
              </a:rPr>
              <a:t>Agent-authored or repository-supplied code runs only in the execution plane. Gate decisions reference independently retrieved evidence, a policy version and a durable manifest. Promotion is a separate decision—not a side effect of a green test.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3547D8-6D24-4359-AFEE-DEA61806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17181"/>
                </a:solidFill>
              </a:defRPr>
            </a:pPr>
            <a:r>
              <a:rPr sz="675" b="1">
                <a:solidFill>
                  <a:srgbClr val="617181"/>
                </a:solidFill>
              </a:rPr>
              <a:t>AGENTIC PDLC  •  UPDATED 24 AUG 2026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754DD4-AE7C-4B24-A38B-14E63A81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17181"/>
                </a:solidFill>
              </a:defRPr>
            </a:pPr>
            <a:r>
              <a:rPr sz="675" b="1">
                <a:solidFill>
                  <a:srgbClr val="617181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255726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DEC4B8-F4C2-4AB0-9309-C98445A2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17181"/>
                </a:solidFill>
              </a:defRPr>
            </a:pPr>
            <a:r>
              <a:rPr sz="825" b="1">
                <a:solidFill>
                  <a:srgbClr val="617181"/>
                </a:solidFill>
              </a:rPr>
              <a:t>PRINCIPAL ARCHITECTURE POSITION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5E4418-141E-4BD3-83AB-E6A95C43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24D"/>
                </a:solidFill>
              </a:defRPr>
            </a:pPr>
            <a:r>
              <a:rPr sz="2175" b="1">
                <a:solidFill>
                  <a:srgbClr val="17324D"/>
                </a:solidFill>
              </a:rPr>
              <a:t>Architecture standing comes from honest boundaries and measured controls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1B003C-2209-40AF-BAA6-E4875B92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68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92949E-218F-433D-8752-E9F8B3E9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7D61"/>
                </a:solidFill>
              </a:defRPr>
            </a:pPr>
            <a:r>
              <a:rPr sz="1500" b="1">
                <a:solidFill>
                  <a:srgbClr val="2E7D61"/>
                </a:solidFill>
              </a:rPr>
              <a:t>What is already credible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64DE0A-7DF8-4CEF-B160-188DD5C4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D61"/>
                </a:solidFill>
              </a:defRPr>
            </a:pPr>
            <a:r>
              <a:rPr sz="1350" b="1">
                <a:solidFill>
                  <a:srgbClr val="2E7D61"/>
                </a:solidFill>
              </a:rPr>
              <a:t>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C74A28-A73F-4DA2-8363-104A9437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33143"/>
                </a:solidFill>
              </a:defRPr>
            </a:pPr>
            <a:r>
              <a:rPr sz="1125" b="0">
                <a:solidFill>
                  <a:srgbClr val="233143"/>
                </a:solidFill>
              </a:rPr>
              <a:t>Project-scoped graph and hydration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A8B948-034A-42F7-A6EC-DE5C8FC5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431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D61"/>
                </a:solidFill>
              </a:defRPr>
            </a:pPr>
            <a:r>
              <a:rPr sz="1350" b="1">
                <a:solidFill>
                  <a:srgbClr val="2E7D61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68A643-5F90-4C92-99EF-037AE632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05050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33143"/>
                </a:solidFill>
              </a:defRPr>
            </a:pPr>
            <a:r>
              <a:rPr sz="1125" b="0">
                <a:solidFill>
                  <a:srgbClr val="233143"/>
                </a:solidFill>
              </a:rPr>
              <a:t>Replaceable design, test and implementation agents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AFFA99-2870-4B11-861B-9C13D6DC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03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D61"/>
                </a:solidFill>
              </a:defRPr>
            </a:pPr>
            <a:r>
              <a:rPr sz="1350" b="1">
                <a:solidFill>
                  <a:srgbClr val="2E7D61"/>
                </a:solidFill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A443BB-4533-45EE-8287-DEF28AFE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62250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33143"/>
                </a:solidFill>
              </a:defRPr>
            </a:pPr>
            <a:r>
              <a:rPr sz="1125" b="0">
                <a:solidFill>
                  <a:srgbClr val="233143"/>
                </a:solidFill>
              </a:rPr>
              <a:t>Deterministic scenario/testability controls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F802AD-B5C8-42CB-8AB5-4A5F7573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575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D61"/>
                </a:solidFill>
              </a:defRPr>
            </a:pPr>
            <a:r>
              <a:rPr sz="1350" b="1">
                <a:solidFill>
                  <a:srgbClr val="2E7D61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2D4882-1CAB-4357-BA98-9C3C6579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9450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33143"/>
                </a:solidFill>
              </a:defRPr>
            </a:pPr>
            <a:r>
              <a:rPr sz="1125" b="0">
                <a:solidFill>
                  <a:srgbClr val="233143"/>
                </a:solidFill>
              </a:rPr>
              <a:t>Observed route/file coverage and required regressions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07BF7D-36C8-4450-B5C2-E77AE11F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D61"/>
                </a:solidFill>
              </a:defRPr>
            </a:pPr>
            <a:r>
              <a:rPr sz="1350" b="1">
                <a:solidFill>
                  <a:srgbClr val="2E7D61"/>
                </a:solidFill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D419B8-29DE-44E9-BB83-BD936D3C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76650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33143"/>
                </a:solidFill>
              </a:defRPr>
            </a:pPr>
            <a:r>
              <a:rPr sz="1125" b="0">
                <a:solidFill>
                  <a:srgbClr val="233143"/>
                </a:solidFill>
              </a:rPr>
              <a:t>Reversible run-level data handling and promotion bundles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E7DE89-BC01-4A66-90F4-E79B1CD40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4287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772C"/>
                </a:solidFill>
              </a:defRPr>
            </a:pPr>
            <a:r>
              <a:rPr sz="1500" b="1">
                <a:solidFill>
                  <a:srgbClr val="C7772C"/>
                </a:solidFill>
              </a:rPr>
              <a:t>What earns the next order of confidence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B16C99-B260-4D2B-9827-24336411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8595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772C"/>
                </a:solidFill>
              </a:defRPr>
            </a:pPr>
            <a:r>
              <a:rPr sz="1125" b="1">
                <a:solidFill>
                  <a:srgbClr val="C7772C"/>
                </a:solidFill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8E634D-1C8E-41A6-9CD4-0210D2E5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47850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33143"/>
                </a:solidFill>
              </a:defRPr>
            </a:pPr>
            <a:r>
              <a:rPr sz="1125" b="0">
                <a:solidFill>
                  <a:srgbClr val="233143"/>
                </a:solidFill>
              </a:rPr>
              <a:t>Validate impact accuracy on client histories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E04132-4CFD-48FC-ADE2-8C77DF93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4315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772C"/>
                </a:solidFill>
              </a:defRPr>
            </a:pPr>
            <a:r>
              <a:rPr sz="1125" b="1">
                <a:solidFill>
                  <a:srgbClr val="C7772C"/>
                </a:solidFill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4CADF9-69C1-4B05-B2EA-D90410BA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05050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33143"/>
                </a:solidFill>
              </a:defRPr>
            </a:pPr>
            <a:r>
              <a:rPr sz="1125" b="0">
                <a:solidFill>
                  <a:srgbClr val="233143"/>
                </a:solidFill>
              </a:rPr>
              <a:t>Add symbol-level and contract-aware analysis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F4F881-CE0E-47A2-A253-14FBFEEC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0035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772C"/>
                </a:solidFill>
              </a:defRPr>
            </a:pPr>
            <a:r>
              <a:rPr sz="1125" b="1">
                <a:solidFill>
                  <a:srgbClr val="C7772C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7FAD88-A19F-4772-825C-323323B6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62250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33143"/>
                </a:solidFill>
              </a:defRPr>
            </a:pPr>
            <a:r>
              <a:rPr sz="1125" b="0">
                <a:solidFill>
                  <a:srgbClr val="233143"/>
                </a:solidFill>
              </a:rPr>
              <a:t>Introduce TestDataProvider fixture leases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E95707-07E5-4F94-8558-83FE57B3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5755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772C"/>
                </a:solidFill>
              </a:defRPr>
            </a:pPr>
            <a:r>
              <a:rPr sz="1125" b="1">
                <a:solidFill>
                  <a:srgbClr val="C7772C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875925-CE2A-4780-93AC-3FBF7A6B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19450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33143"/>
                </a:solidFill>
              </a:defRPr>
            </a:pPr>
            <a:r>
              <a:rPr sz="1125" b="0">
                <a:solidFill>
                  <a:srgbClr val="233143"/>
                </a:solidFill>
              </a:rPr>
              <a:t>Add branch/statement and semantic side-effect coverage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210BCE-1B52-4F7E-9221-DDAD9EED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1475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772C"/>
                </a:solidFill>
              </a:defRPr>
            </a:pPr>
            <a:r>
              <a:rPr sz="1125" b="1">
                <a:solidFill>
                  <a:srgbClr val="C7772C"/>
                </a:solidFill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9FEC26-6EC5-409E-B069-CFDC3D9F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76650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33143"/>
                </a:solidFill>
              </a:defRPr>
            </a:pPr>
            <a:r>
              <a:rPr sz="1125" b="0">
                <a:solidFill>
                  <a:srgbClr val="233143"/>
                </a:solidFill>
              </a:rPr>
              <a:t>Make graph quality thresholds client-calibrated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37C5A7-0BE8-4440-A3A5-487070D7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110680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ABDBA2-9F89-4AEF-8FE0-6FA211B6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482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Standardize lifecycle contracts, trust boundaries and evidence semantics. Federate tools, models, policies and execution. Measure every inference.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7DCA8A-66C2-4CB7-A407-CE38DB93F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17181"/>
                </a:solidFill>
              </a:defRPr>
            </a:pPr>
            <a:r>
              <a:rPr sz="675" b="1">
                <a:solidFill>
                  <a:srgbClr val="617181"/>
                </a:solidFill>
              </a:rPr>
              <a:t>AGENTIC PDLC  •  UPDATED 24 AUG 2026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5A5BB8-C72F-42E3-BFF8-FBE261E9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17181"/>
                </a:solidFill>
              </a:defRPr>
            </a:pPr>
            <a:r>
              <a:rPr sz="675" b="1">
                <a:solidFill>
                  <a:srgbClr val="617181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277848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2026-08-24T22:26:36.0530000Z</dcterms:created>
  <dcterms:modified xsi:type="dcterms:W3CDTF">2026-08-24T22:26:36.0530000Z</dcterms:modified>
</coreProperties>
</file>