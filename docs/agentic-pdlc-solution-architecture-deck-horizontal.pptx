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497277b1984620" /><Relationship Type="http://schemas.openxmlformats.org/officeDocument/2006/relationships/extended-properties" Target="/docProps/app.xml" Id="R06a8a11d11dc48ab" /><Relationship Type="http://schemas.openxmlformats.org/officeDocument/2006/relationships/officeDocument" Target="/ppt/presentation.xml" Id="R8e9c89af90af4b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2e27194d7541ad"/>
  </p:sldMasterIdLst>
  <p:notesMasterIdLst>
    <p:notesMasterId xmlns:r="http://schemas.openxmlformats.org/officeDocument/2006/relationships" r:id="R80322da8be63433e"/>
  </p:notesMasterIdLst>
  <p:sldIdLst>
    <p:sldId xmlns:r="http://schemas.openxmlformats.org/officeDocument/2006/relationships" id="256" r:id="Re650300050874dd9"/>
    <p:sldId xmlns:r="http://schemas.openxmlformats.org/officeDocument/2006/relationships" id="257" r:id="Rd1c4e5e219be4da3"/>
    <p:sldId xmlns:r="http://schemas.openxmlformats.org/officeDocument/2006/relationships" id="258" r:id="Rbd6bf12b78974507"/>
    <p:sldId xmlns:r="http://schemas.openxmlformats.org/officeDocument/2006/relationships" id="259" r:id="R529cef280e3c41ef"/>
    <p:sldId xmlns:r="http://schemas.openxmlformats.org/officeDocument/2006/relationships" id="260" r:id="R08c02072813544f4"/>
    <p:sldId xmlns:r="http://schemas.openxmlformats.org/officeDocument/2006/relationships" id="261" r:id="R9f9fe2a11ea84304"/>
    <p:sldId xmlns:r="http://schemas.openxmlformats.org/officeDocument/2006/relationships" id="262" r:id="R809d3d75a0ff406a"/>
    <p:sldId xmlns:r="http://schemas.openxmlformats.org/officeDocument/2006/relationships" id="263" r:id="Rf29b42d728fc43ac"/>
    <p:sldId xmlns:r="http://schemas.openxmlformats.org/officeDocument/2006/relationships" id="264" r:id="R1c870f9ca2ad41c9"/>
    <p:sldId xmlns:r="http://schemas.openxmlformats.org/officeDocument/2006/relationships" id="265" r:id="R0ba194c94bea42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2c59921ec84e49" /><Relationship Type="http://schemas.openxmlformats.org/officeDocument/2006/relationships/slideMaster" Target="/ppt/slideMasters/slideMaster1.xml" Id="Rd22e27194d7541ad" /><Relationship Type="http://schemas.openxmlformats.org/officeDocument/2006/relationships/notesMaster" Target="/ppt/notesMasters/notesMaster1.xml" Id="R80322da8be63433e" /><Relationship Type="http://schemas.openxmlformats.org/officeDocument/2006/relationships/presProps" Target="/ppt/presProps.xml" Id="R2dfd029d920b437f" /><Relationship Type="http://schemas.openxmlformats.org/officeDocument/2006/relationships/tableStyles" Target="/ppt/tableStyles.xml" Id="R63bf11cb055f4d8f" /><Relationship Type="http://schemas.openxmlformats.org/officeDocument/2006/relationships/slide" Target="/ppt/slides/slide1.xml" Id="Re650300050874dd9" /><Relationship Type="http://schemas.openxmlformats.org/officeDocument/2006/relationships/slide" Target="/ppt/slides/slide2.xml" Id="Rd1c4e5e219be4da3" /><Relationship Type="http://schemas.openxmlformats.org/officeDocument/2006/relationships/slide" Target="/ppt/slides/slide3.xml" Id="Rbd6bf12b78974507" /><Relationship Type="http://schemas.openxmlformats.org/officeDocument/2006/relationships/slide" Target="/ppt/slides/slide4.xml" Id="R529cef280e3c41ef" /><Relationship Type="http://schemas.openxmlformats.org/officeDocument/2006/relationships/slide" Target="/ppt/slides/slide5.xml" Id="R08c02072813544f4" /><Relationship Type="http://schemas.openxmlformats.org/officeDocument/2006/relationships/slide" Target="/ppt/slides/slide6.xml" Id="R9f9fe2a11ea84304" /><Relationship Type="http://schemas.openxmlformats.org/officeDocument/2006/relationships/slide" Target="/ppt/slides/slide7.xml" Id="R809d3d75a0ff406a" /><Relationship Type="http://schemas.openxmlformats.org/officeDocument/2006/relationships/slide" Target="/ppt/slides/slide8.xml" Id="Rf29b42d728fc43ac" /><Relationship Type="http://schemas.openxmlformats.org/officeDocument/2006/relationships/slide" Target="/ppt/slides/slide9.xml" Id="R1c870f9ca2ad41c9" /><Relationship Type="http://schemas.openxmlformats.org/officeDocument/2006/relationships/slide" Target="/ppt/slides/slide10.xml" Id="R0ba194c94bea42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0c33a7f3324b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e66c1a0e7e414c" /><Relationship Type="http://schemas.openxmlformats.org/officeDocument/2006/relationships/notesMaster" Target="/ppt/notesMasters/notesMaster1.xml" Id="Rc48ee60051834b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969fb840804bcd" /><Relationship Type="http://schemas.openxmlformats.org/officeDocument/2006/relationships/notesMaster" Target="/ppt/notesMasters/notesMaster1.xml" Id="R125aec38c54e4a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fdf2d13f1340a6" /><Relationship Type="http://schemas.openxmlformats.org/officeDocument/2006/relationships/notesMaster" Target="/ppt/notesMasters/notesMaster1.xml" Id="R7669d2c412c144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336ba1d2af4e4a" /><Relationship Type="http://schemas.openxmlformats.org/officeDocument/2006/relationships/notesMaster" Target="/ppt/notesMasters/notesMaster1.xml" Id="Rf2af9ac6dc2f47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2d281dd3794767" /><Relationship Type="http://schemas.openxmlformats.org/officeDocument/2006/relationships/notesMaster" Target="/ppt/notesMasters/notesMaster1.xml" Id="R56d59aefd35a4c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ec23f00c324bb1" /><Relationship Type="http://schemas.openxmlformats.org/officeDocument/2006/relationships/notesMaster" Target="/ppt/notesMasters/notesMaster1.xml" Id="R78fbe40508024f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ccab34e7d24134" /><Relationship Type="http://schemas.openxmlformats.org/officeDocument/2006/relationships/notesMaster" Target="/ppt/notesMasters/notesMaster1.xml" Id="R112c685d2e4343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f121f75102436f" /><Relationship Type="http://schemas.openxmlformats.org/officeDocument/2006/relationships/notesMaster" Target="/ppt/notesMasters/notesMaster1.xml" Id="Ra01aefc7dc4d45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f3a8a5899b4cd6" /><Relationship Type="http://schemas.openxmlformats.org/officeDocument/2006/relationships/notesMaster" Target="/ppt/notesMasters/notesMaster1.xml" Id="R80960b5b8f7646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a2951358464d30" /><Relationship Type="http://schemas.openxmlformats.org/officeDocument/2006/relationships/notesMaster" Target="/ppt/notesMasters/notesMaster1.xml" Id="R5dff758f1d9642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architectural stance: AI may propose and execute, but it does not own readiness decisions.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establish the philosophy before discussing technology.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design constraints, not slogans; each maps to an implemented control or an explicit target-state gap.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TestDataProvider row is target-state. The other named agent seams exist in the reference implementation.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top to bottom. Separate implemented runtime paths from protocol-only seams and target-state capabilities. Call out the three non-unified impact calculations, partial project isolation, execution/reporting privilege split and residual production gaps.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the two recurring questions directly: scenarios come from four governed inputs; current data setup is reversible at run level, not isolated per scenario.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qualification prevents the most dangerous multi-client failure: a plausible answer assembled from another engagement’s graph.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overstate the metric. The implementation is materially real, but graph completeness and coverage granularity still bound its assurance.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pluggability does not imply shared credentials or pushed truth. The control plane reconciles independently.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architectural standard: replaceability at the edges, non-negotiable governance at the core.</a:t>
            </a:r>
          </a:p>
          <a:p xmlns:a="http://schemas.openxmlformats.org/drawingml/2006/main">
            <a:r>
              <a:t>[Sources] Internal reference implementation and architecture review,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cd7ab82b249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774bb0e9ed48cd" /><Relationship Type="http://schemas.openxmlformats.org/officeDocument/2006/relationships/slideLayout" Target="/ppt/slideLayouts/slideLayout1.xml" Id="R66058f43a36443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058f43a36443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e574454474b48" /><Relationship Type="http://schemas.openxmlformats.org/officeDocument/2006/relationships/notesSlide" Target="/ppt/notesSlides/notesSlide1.xml" Id="Rdc088678cb7840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1f088ba6f4663" /><Relationship Type="http://schemas.openxmlformats.org/officeDocument/2006/relationships/notesSlide" Target="/ppt/notesSlides/notesSlide2.xml" Id="Ra8b5688f773042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0465f41bb45b8" /><Relationship Type="http://schemas.openxmlformats.org/officeDocument/2006/relationships/notesSlide" Target="/ppt/notesSlides/notesSlide3.xml" Id="R3c61d89608f144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a813f19014eba" /><Relationship Type="http://schemas.openxmlformats.org/officeDocument/2006/relationships/notesSlide" Target="/ppt/notesSlides/notesSlide4.xml" Id="R1efabce0119242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d88efd14c48f5" /><Relationship Type="http://schemas.openxmlformats.org/officeDocument/2006/relationships/image" Target="/ppt/media/image.png" Id="R45599e9aaa354797" /><Relationship Type="http://schemas.openxmlformats.org/officeDocument/2006/relationships/notesSlide" Target="/ppt/notesSlides/notesSlide5.xml" Id="Rc7aa5cd07f9b4f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bac65cec54848" /><Relationship Type="http://schemas.openxmlformats.org/officeDocument/2006/relationships/image" Target="/ppt/media/image2.png" Id="R2581ca5dedbd456a" /><Relationship Type="http://schemas.openxmlformats.org/officeDocument/2006/relationships/notesSlide" Target="/ppt/notesSlides/notesSlide6.xml" Id="R0ef4e025468549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79cf858944974" /><Relationship Type="http://schemas.openxmlformats.org/officeDocument/2006/relationships/notesSlide" Target="/ppt/notesSlides/notesSlide7.xml" Id="R6d7d196d634344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6d9f9f21543b4" /><Relationship Type="http://schemas.openxmlformats.org/officeDocument/2006/relationships/notesSlide" Target="/ppt/notesSlides/notesSlide8.xml" Id="Rc75552f5378d4f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e5d3c19ff4370" /><Relationship Type="http://schemas.openxmlformats.org/officeDocument/2006/relationships/notesSlide" Target="/ppt/notesSlides/notesSlide9.xml" Id="Re4ba15efd8944f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7ec0f42eb4465" /><Relationship Type="http://schemas.openxmlformats.org/officeDocument/2006/relationships/notesSlide" Target="/ppt/notesSlides/notesSlide10.xml" Id="R7a0240f8bed041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DDEAA-2026-4D44-A5AE-680647C6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CE0"/>
                </a:solidFill>
              </a:defRPr>
            </a:pPr>
            <a:r>
              <a:rPr sz="900" b="1">
                <a:solidFill>
                  <a:srgbClr val="B9CCE0"/>
                </a:solidFill>
              </a:rPr>
              <a:t>REFERENCE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CBFE1-28EE-47C0-B5BD-DFE4E11D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Agentic Product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Development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7C990-AA60-44FF-96F8-BA8278CB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6F2"/>
                </a:solidFill>
              </a:defRPr>
            </a:pPr>
            <a:r>
              <a:rPr sz="1650" b="0">
                <a:solidFill>
                  <a:srgbClr val="D9E6F2"/>
                </a:solidFill>
              </a:rPr>
              <a:t>Governed intelligence. Client-owned execution. Evidence-backed progression.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00E7E-E572-455B-8524-DA2A886D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43000"/>
            <a:ext cx="3143250" cy="37147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204461"/>
          </a:solidFill>
          <a:ln xmlns:a="http://schemas.openxmlformats.org/drawingml/2006/main" w="9525">
            <a:solidFill>
              <a:srgbClr val="52759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4D82A-F590-411B-B377-50BB97EF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04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CCE0"/>
                </a:solidFill>
              </a:defRPr>
            </a:pPr>
            <a:r>
              <a:rPr sz="1200" b="1">
                <a:solidFill>
                  <a:srgbClr val="B9CCE0"/>
                </a:solidFill>
              </a:rPr>
              <a:t>Architecture 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B7A01-47E1-429A-B552-AA9D1919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Standardize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E2BBA-B5CD-47D6-B398-4FC83544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333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contracts • trust boundaries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evidence semantics •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96CE5-A65A-451D-AEEE-8DD50838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Federate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BCE44-DE3F-45DD-9FC4-93CA007B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33800"/>
            <a:ext cx="2333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models • tools • clouds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policies • execution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FD96C-9B89-4DBD-8ABB-26D778B9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CE0"/>
                </a:solidFill>
              </a:defRPr>
            </a:pPr>
            <a:r>
              <a:rPr sz="900" b="1">
                <a:solidFill>
                  <a:srgbClr val="B9CCE0"/>
                </a:solidFill>
              </a:rPr>
              <a:t>Updated to the latest 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C3242-EAC7-445F-A528-C8990E6F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9CCE0"/>
                </a:solidFill>
              </a:defRPr>
            </a:pPr>
            <a:r>
              <a:rPr sz="675" b="1">
                <a:solidFill>
                  <a:srgbClr val="B9CCE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833172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6941B7-45C3-40EA-8613-D73C28B1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ARCHITECTURAL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0B9E0-A783-485C-A252-4F0518BD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The framework is a governed decision system—not a chain of model calls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F3E16-CADC-457F-B721-2EC62490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D2C4C-C835-4821-B085-5415BD36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143"/>
                </a:solidFill>
              </a:defRPr>
            </a:pPr>
            <a:r>
              <a:rPr sz="1500" b="0">
                <a:solidFill>
                  <a:srgbClr val="233143"/>
                </a:solidFill>
              </a:rPr>
              <a:t>The differentiator is not agent count. It is the quality of the boundaries around authority, evidence and replacement.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389CA-E838-49F5-A18E-DE96E2C3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3813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77CCC-76FD-4285-A5B6-50D6D9AA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8F489-D0EE-41FA-8980-88E6EFDB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3019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Agents propose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45EAD-C1BA-49D0-AF6A-7C267555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0194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Designs, plans, code and tests may come from platform agents or client-supplied agents.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FCE2C-5DCE-48D7-99FF-07F6B36D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33813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2DB33-8DEA-4293-8CD9-038C164A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7DAB2-727A-4416-96DB-091814D9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38375"/>
            <a:ext cx="3019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Deterministic controls decide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C3C18-BDA9-4EFE-9DFF-8BB3D3C3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301942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Schemas, scope containment, policy, coverage reconciliation and promotion checks remain framework-owned.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FE811-E4EC-40B5-A526-CD023AE8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3528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7D84D-B8B7-4B03-A4E7-EEBFA823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CB3CF-0068-400F-95ED-EF46B725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Humans own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5E268-A813-4791-9898-C8BB5F9B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990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Approvals and exceptions are attributable, time-bound and supported by versioned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CF7B7-C49F-4E5E-A918-510F99B3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1068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4004A-9B76-495D-BEDC-B8064B49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North-star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ED58A-A100-4CF0-99E1-054C04A1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Increase delivery throughput while preserving—or strengthening—traceability, containment, client sovereignty and release confidence.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53AB1-921B-4F15-A6ED-E2BA5801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46F3F-A587-4AD0-8B53-B41EEDCC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8110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D60DAF-72CA-47A0-ABAD-860A0FF3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KEY TENETS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4DC66-EDA6-4589-8F47-FF8FB8A5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Six tenets hold the architecture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DEABA-21D3-49CA-98DF-23809DDD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CD80B-0458-4435-B69C-46A6B1C1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9417E-F3CC-49D8-9A06-BC20579A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592EB-759F-4984-B23F-15B67ED9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00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Agents propose; gates decide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0FD02-FD15-4B36-A3D0-6BE45F91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526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Probabilistic components cannot self-approve.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6439C-6876-4FD5-B62A-51ED349D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166E1-32CE-4692-8791-2FCAA09E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00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53C94-D4B8-446B-94B4-800C6A1E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00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Evidence is the currency of progression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F713D-1A3E-43D5-A6AC-B565926A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526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A phase completes when required evidence exists.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3176D-49A8-43A2-B5C6-2462AFA6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536DC-54D2-4A8D-ACD5-C49F9826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43491-EB27-48FB-82F5-9CEC854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76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Context is federated, not duplicated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C5B8E-9E23-43AA-B0CC-36B8C027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Sources of record remain authoritative; context carries pointers and provenance.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20382-ED3E-4766-B560-15E07DB9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05125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87984-11DF-4A08-8D72-23E3CE22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765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A1A36E-D80A-432E-999F-524EE9C7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76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Autonomy is bounded by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4485B1-F512-406C-8420-8EC70C74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290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Policy sets autonomy from impact, reversibility and uncertainty.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DB126-4568-4F7C-B045-D01E8D42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9AAB31-323A-4031-99E7-D5C0DAEF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BF37F7-EFA9-43BD-A3E5-085B99E1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52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Ports vary; semantics remain invariant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174981-50C3-44C6-BEC8-C4CE1091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053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Clients replace implementations behind versioned capability contracts.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3654B8-149F-4C1F-AF6A-AC347E3A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81500"/>
            <a:ext cx="5238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E173CD-5C29-45DE-935F-63251B3B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5B6"/>
                </a:solidFill>
              </a:defRPr>
            </a:pPr>
            <a:r>
              <a:rPr sz="1125" b="1">
                <a:solidFill>
                  <a:srgbClr val="2E75B6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D61040-49C4-4A67-9441-35F0391D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52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Every assurance claim is measured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22E9BE-0EB1-4CE0-9E84-FA0D34A4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053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Coverage and blast radius disclose scope, quality and limits.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83FFDA-517A-4AA6-B3F5-2CF9A5CC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F3EF0E-3AEB-420D-BD41-3EB856EC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44133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19B018-081A-47C8-82DB-922542C0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BYO / PLUGGABILITY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8F257-4920-43DA-B791-B6C33E5A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Bring your own capabilities—without bringing your own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3B84A-D061-4A4A-AA31-C2BD7F76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B7F69-342E-42AA-9541-54B069A8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30194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BBECA-C855-49A4-85F4-AD00C022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Extension seam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10F56-7465-4C9B-B98F-800E6788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42875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BC16E-2E3E-4638-A970-82A0897C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4763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Client may provide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F16B6-1C08-4DAB-AAD7-70CC171D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2AF2B-941B-4842-BA23-38AFB5FD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76375"/>
            <a:ext cx="414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Framework retains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E0015-BFA7-409D-B575-9CB681D3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11068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201E2-5E5C-4ECF-8864-A47A3073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DesignAgent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EB035-8613-4802-801C-5191ACF6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240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Inline service or dispatched design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8BA37-13F1-4F46-ABBE-667AB2D3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240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Catalogue review, schema and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8D05D-A96E-4871-B7ED-14E9077A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11068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BE476-2A5B-465B-8351-33CD76E2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TestAuthor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E50FA-8C72-4F8E-80AB-9437CCDD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051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Planner/spec author, sync or dispatched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279B18-1971-4B62-A63E-EEDB62F3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051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Testability, required regressions, spec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A3926-7E4F-4D08-B6E9-7C125D5A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11068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04150-8837-4F41-902A-69C6B296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Implementation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1E823-6D74-4D15-8A87-B6F5F375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861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Client cloud coding agent via WorkDispatch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F37BE4-23A4-4DBC-899D-8E14E54C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61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Capability check, scope review, 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5D7288-1ADB-428B-9B35-D77FE316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1068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4555D4-9A4D-4814-BDA0-28FA8BE2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Test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D59F7-30C3-49A5-B90B-64E5F2F4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Database/fixture/environment provider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93D91E-F150-482D-892E-907FC72D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67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Lease lifecycle and cleanup evidence contract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2A0E6F-8325-4B0F-9117-62586551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1068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46750E-9C76-43A8-9BD2-6E7ABA3E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Models &amp; tools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351905-4065-4BC6-B3A9-48096A36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LLM, SCM, CI, policy, evidence stores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769586-2A30-4742-A9CB-BBA41922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482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Identity, result envelope, audit and gates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5D60A4-6B09-4A0D-88B8-EAAFC228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57FAC1-E782-43F8-8E94-50F219C4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59214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99e9aaa354797"/>
          <a:stretch xmlns:a="http://schemas.openxmlformats.org/drawingml/2006/main"/>
        </p:blipFill>
        <p:spPr>
          <a:xfrm xmlns:a="http://schemas.openxmlformats.org/drawingml/2006/main">
            <a:off x="76200" y="816380"/>
            <a:ext cx="12039600" cy="52252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8470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D6785C-3582-45D2-A414-E2E600F7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QA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5851A-4D69-4F79-8CB7-543D3569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QA turns change context into governed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D45C9-F75F-42F4-A380-BD2B5653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1ca5dedbd456a"/>
          <a:stretch xmlns:a="http://schemas.openxmlformats.org/drawingml/2006/main"/>
        </p:blipFill>
        <p:spPr>
          <a:xfrm xmlns:a="http://schemas.openxmlformats.org/drawingml/2006/main">
            <a:off x="457200" y="1384766"/>
            <a:ext cx="11277600" cy="351696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EA104-6328-4E4C-8596-BD2C84B4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3333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EA323-F62B-461B-A47E-24127CD7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B489C-CA73-4463-9C7A-BA44203F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Scenario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522F9-6104-4934-BCA5-A3856A03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Diff + acceptance criteria + project graph + approved library.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AFBAD-490D-4672-A5FB-5B66A3B8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3333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CDA19-CB60-49B3-A4E5-CAFFE661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B58C2-C0D0-45E5-94BB-A6C44E2F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2387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Current data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3D42A-00BC-4CFC-BA25-63613EBA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572125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Deterministic seed, run snapshot, serial mutation fallback and finally-path restore.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AAE73-21E8-4B74-923C-C837898F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95875"/>
            <a:ext cx="3314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04831-3F99-4440-84AB-4AFF696D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9587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481A4-9104-4468-BF05-8DC8F11F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38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Target data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3F27B-277C-4EBC-9CB4-8AB53485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57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TestDataProvider leases isolated fixtures and emits cleanup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3C994-5743-4DAA-8AE4-09A3A20B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9755B-E64B-4F37-BE35-77AC894E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95109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9A2BB9-DF17-4FFE-9F2D-96CFE670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PROJECT + HYDRATION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9D76D-35FD-4901-81B5-8DE1F027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Project scope is an architectural boundary, not a UI 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BDFC4-13BE-4F1A-88FB-67C2BDDE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B83D1-40C0-4280-9546-D11EB2CF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1F243-CFCA-47E2-B9DD-4A242905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6248A-B76F-4CF4-BD58-C062E61D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Active project selects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A4D14-AC8F-4692-9E29-B7252D94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97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Engagement configuration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Repository and revision scope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Knowledge sources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Runtime adapter choices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67484-B1C6-4987-82E0-63D55374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A1C4E-9327-4D9C-9EAD-B84529F4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2A642-4910-47F2-859E-19CFF47F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5716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Hydration operates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77D04-C8E8-4DBD-B762-F1EE5BAC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05000"/>
            <a:ext cx="297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Index → graph → retrieval → export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Delta refresh after change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Freshness and quality recorded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50DF3-5E5A-4ED7-97E3-914EA410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28750"/>
            <a:ext cx="3314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1FC06-3014-4D4C-8685-355ED13D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28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EC981-05D4-48CE-AE6C-2AF5FCBE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716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Isolation is structural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044DC-B3EC-46E3-9CB7-FEF21207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0500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Project-qualified identities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No cross-project graph deletion</a:t>
            </a:r>
          </a:p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No silent identity collision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703F5-F26C-46AB-B1C9-63BA0A00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Why this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C62590-D5F5-4AF6-90BA-BF690059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143"/>
                </a:solidFill>
              </a:defRPr>
            </a:pPr>
            <a:r>
              <a:rPr sz="1500" b="0">
                <a:solidFill>
                  <a:srgbClr val="233143"/>
                </a:solidFill>
              </a:rPr>
              <a:t>Blast radius, retrieval, test selection and evidence are only credible when every assertion resolves to the correct engagement and source revision.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8948C1-7329-4166-BC3B-E8FBE21C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9500"/>
            <a:ext cx="3619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17BC4-8429-4B3D-B9EB-69168300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Invariant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3121D-DE21-4D23-8CA9-60239E42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</a:defRPr>
            </a:pPr>
            <a:r>
              <a:rPr sz="1200" b="0">
                <a:solidFill>
                  <a:srgbClr val="17324D"/>
                </a:solidFill>
              </a:rPr>
              <a:t>Project switching may change implementations and data. It must never change the meaning of evidence, gates or result status.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4A847-D00E-4D73-85B5-507246B5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29268A-BE85-404C-A03F-42E76B49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693222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31114E-F82D-4923-8C63-73F45750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IMPACT + QA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E9764-D31F-4521-B9FF-E8C11ABA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Blast radius is useful because its limits are explicit and gated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42A74-8D11-4956-A1B3-D4F63FB9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5F068-9BEA-4DD9-B0AC-6DD260B7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619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5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1E0FB-20AD-40FA-905A-F185D364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5B6"/>
                </a:solidFill>
              </a:defRPr>
            </a:pPr>
            <a:r>
              <a:rPr sz="1200" b="1">
                <a:solidFill>
                  <a:srgbClr val="2E75B6"/>
                </a:solidFill>
              </a:rPr>
              <a:t>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2D992-2567-484F-BAEA-2A4CC2F1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6002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Diff-resolved files and modules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0BEAB-90A7-4CAD-83AB-CE5C1C8E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619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6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5741F-1641-4A9B-AE36-35FA5702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61"/>
                </a:solidFill>
              </a:defRPr>
            </a:pPr>
            <a:r>
              <a:rPr sz="1200" b="1">
                <a:solidFill>
                  <a:srgbClr val="2E7D61"/>
                </a:solidFill>
              </a:rPr>
              <a:t>Dependent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47064-8509-4E78-8D45-37A6B6D7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574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Typed dependency paths from the project 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0CB4D-1E4C-4358-ACFD-1088C134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4619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77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5EE3E-0FF1-40D7-8C38-E77197FF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772C"/>
                </a:solidFill>
              </a:defRPr>
            </a:pPr>
            <a:r>
              <a:rPr sz="1200" b="1">
                <a:solidFill>
                  <a:srgbClr val="C7772C"/>
                </a:solidFill>
              </a:rPr>
              <a:t>Uncovered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F63AF-524F-41C2-A5B1-1B78F21A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14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Impacted areas without an approved 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8A0FA-8480-41F6-AA49-A03C778D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4619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55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13C8F-F475-4736-A28E-923E34BB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55A6"/>
                </a:solidFill>
              </a:defRPr>
            </a:pPr>
            <a:r>
              <a:rPr sz="1200" b="1">
                <a:solidFill>
                  <a:srgbClr val="7655A6"/>
                </a:solidFill>
              </a:rPr>
              <a:t>Required regressions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9DA92-3BCB-4C04-BECA-81944768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719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33143"/>
                </a:solidFill>
              </a:defRPr>
            </a:pPr>
            <a:r>
              <a:rPr sz="975" b="0">
                <a:solidFill>
                  <a:srgbClr val="233143"/>
                </a:solidFill>
              </a:rPr>
              <a:t>Existing covering scripts installed by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58FD03-392E-4563-9A98-3AB4E758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5905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FB328-A94E-4248-9FC7-F1360DCE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26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What the current reference can legitimately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3566D-1673-463C-A81D-EA5F1788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17568B-C766-4EC0-9C63-8B3714D3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Impact is derived from changed paths and typed graph relationships.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DA3D2-ADC4-42B0-ACEB-F1776B31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476ABE-76A4-4ACF-B465-8F2A8B27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03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Required regressions are enforced, not left in an agent prompt.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D1ED4-FCF7-48EC-B10E-69E450C2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317D1-5F32-4846-8234-5BF1EF97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575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Observed coverage credits only server-served requests.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44C550-DF55-4152-9303-C378C7AD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6CAAC6-59BB-4675-98E4-0A4ED80F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147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Intercepted requests remain visible but earn no coverage.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84067-0546-4236-9BCE-8AAD51B5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A73BC0-0AF6-4CF1-BB61-9C61CE42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Coverage proves route/file reach—not branch or statement completeness.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303A99-9D32-4CDA-9DC7-B2FCD75C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110680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1C8E11-1D4E-4C54-83B8-4C0B328D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006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772C"/>
                </a:solidFill>
              </a:defRPr>
            </a:pPr>
            <a:r>
              <a:rPr sz="1050" b="1">
                <a:solidFill>
                  <a:srgbClr val="C7772C"/>
                </a:solidFill>
              </a:rPr>
              <a:t>Principal-architect position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A6C147-1A4B-47DD-9A34-B46C12A4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34000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Treat the result as versioned decision support with provenance and uncertainty—not as an oracle.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75BDFE-2009-4287-9AFF-6C66F9B3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A45084-DA81-4955-95D1-BA12BA5A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87761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A1CDF1-CBB6-4102-BF00-0C9825D5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9BD04-E39C-48D9-8599-4A141AE3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Evidence and privilege separation make remote execution governable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97BA8-B592-4B05-970A-5F210996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670FD-69EE-4632-BEDF-B45B5910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3A694-0FBA-4712-84CD-51E22453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34E81-A9A6-49AE-847E-69B4169D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ADF50-BD91-4410-8C76-605B250E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907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Dispatch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EE21C-4375-4BFE-86E5-F3D75D01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Capability-checked request with project, revision and policy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AE84F-B4B8-4B50-8802-A6E1A773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17181"/>
                </a:solidFill>
              </a:defRPr>
            </a:pPr>
            <a:r>
              <a:rPr sz="1875" b="1">
                <a:solidFill>
                  <a:srgbClr val="617181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DD6BB-DE29-44B5-8AFA-D30925B5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192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2B89B-A8E2-40DF-B0DB-D70024B1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23096-DDA3-4A0C-BE7A-8DB17BBC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09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2A33A-93B7-484A-83CE-607FF422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907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Execute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FA356-91AE-4AA2-AFF0-41D2D7A9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Client CI or coding agent works in a bounded branch / runner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25117-08A5-4D0A-AF02-D7379144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574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17181"/>
                </a:solidFill>
              </a:defRPr>
            </a:pPr>
            <a:r>
              <a:rPr sz="1875" b="1">
                <a:solidFill>
                  <a:srgbClr val="617181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2AC9E-F0AF-489C-810C-5E79D953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192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418B5-9AA5-4549-B2CF-76692874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F20E3-24E2-478C-88BC-9C1DB402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C678BA-C485-4FA0-9E1B-542256B4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907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64051F-2D6F-4EFA-89BD-BA4BE063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Trusted reporter reconciles results; execution holds no write token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BDCD5-EAFB-4133-A00E-83AD8BC7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574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17181"/>
                </a:solidFill>
              </a:defRPr>
            </a:pPr>
            <a:r>
              <a:rPr sz="1875" b="1">
                <a:solidFill>
                  <a:srgbClr val="617181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34C60C-9FAB-4762-A5E7-0983A59A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A5F888-69B4-4D9B-BAFC-232F2753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49945A-BA71-4E95-826F-22277428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097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567C7B-7ECB-403E-87FA-3A8480AB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907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Promote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4163F5-7A20-4089-8E36-E9E1F7EB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33143"/>
                </a:solidFill>
              </a:defRPr>
            </a:pPr>
            <a:r>
              <a:rPr sz="1050" b="0">
                <a:solidFill>
                  <a:srgbClr val="233143"/>
                </a:solidFill>
              </a:rPr>
              <a:t>Passing generated specs become reviewable source + SHA-256 + provenance bundles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9CB8BD-C508-49A9-9A59-2F9905CE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110680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51C0E5-AADE-403E-A8C4-9AA464CB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The trust boundary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681C2D-832F-411F-B394-652FD335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</a:rPr>
              <a:t>Agent-authored or repository-supplied code runs only in the execution plane. Gate decisions reference independently retrieved evidence, a policy version and a durable manifest. Promotion is a separate decision—not a side effect of a green test.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746598-6EC0-483A-9174-34674FE0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568E58-5150-47F0-84D7-9F22EDCF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143929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0CFA78-34E7-435F-BCDC-0FCCA2CE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17181"/>
                </a:solidFill>
              </a:defRPr>
            </a:pPr>
            <a:r>
              <a:rPr sz="825" b="1">
                <a:solidFill>
                  <a:srgbClr val="617181"/>
                </a:solidFill>
              </a:rPr>
              <a:t>PRINCIPAL ARCHITECTURE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52F36-884A-43FF-A031-D584E851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24D"/>
                </a:solidFill>
              </a:defRPr>
            </a:pPr>
            <a:r>
              <a:rPr sz="2175" b="1">
                <a:solidFill>
                  <a:srgbClr val="17324D"/>
                </a:solidFill>
              </a:rPr>
              <a:t>Architecture standing comes from honest boundaries and measured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3098C-D253-44B3-9EB6-AF9A9C7D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68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293D7-07C6-4A6F-9FC4-F42B1382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61"/>
                </a:solidFill>
              </a:defRPr>
            </a:pPr>
            <a:r>
              <a:rPr sz="1500" b="1">
                <a:solidFill>
                  <a:srgbClr val="2E7D61"/>
                </a:solidFill>
              </a:rPr>
              <a:t>What is already credible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78ADD-54B4-4B28-8121-A41CC7B5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1"/>
                </a:solidFill>
              </a:defRPr>
            </a:pPr>
            <a:r>
              <a:rPr sz="1350" b="1">
                <a:solidFill>
                  <a:srgbClr val="2E7D61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02AD2-B891-404D-89D5-EE8A81F3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Project-scoped graph and hydration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5B10F-FB5E-4C8B-90FC-50530782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1"/>
                </a:solidFill>
              </a:defRPr>
            </a:pPr>
            <a:r>
              <a:rPr sz="1350" b="1">
                <a:solidFill>
                  <a:srgbClr val="2E7D61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37C49-9A06-404B-ACBD-282D7CC4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Replaceable design, test and implementation agents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F3762-FE1F-4327-8E67-3A2231F8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1"/>
                </a:solidFill>
              </a:defRPr>
            </a:pPr>
            <a:r>
              <a:rPr sz="1350" b="1">
                <a:solidFill>
                  <a:srgbClr val="2E7D61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8D4F5-3665-4BD0-8070-C46C0139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Deterministic scenario/testability controls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08EA7-7A3E-4D33-AD27-3918BF28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1"/>
                </a:solidFill>
              </a:defRPr>
            </a:pPr>
            <a:r>
              <a:rPr sz="1350" b="1">
                <a:solidFill>
                  <a:srgbClr val="2E7D61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02193-5FE3-4C57-A449-E1965E41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Observed route/file coverage and required regressions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E4287-5C86-4CAD-8B72-542D7685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1"/>
                </a:solidFill>
              </a:defRPr>
            </a:pPr>
            <a:r>
              <a:rPr sz="1350" b="1">
                <a:solidFill>
                  <a:srgbClr val="2E7D61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999A4-0F66-4046-B347-180ACFBB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Reversible run-level data handling and promotion bundles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A060A-6C11-480A-B6FC-91DA731D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772C"/>
                </a:solidFill>
              </a:defRPr>
            </a:pPr>
            <a:r>
              <a:rPr sz="1500" b="1">
                <a:solidFill>
                  <a:srgbClr val="C7772C"/>
                </a:solidFill>
              </a:rPr>
              <a:t>What earns the next order of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524D3-DD0A-4E16-B638-190FA24E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772C"/>
                </a:solidFill>
              </a:defRPr>
            </a:pPr>
            <a:r>
              <a:rPr sz="1125" b="1">
                <a:solidFill>
                  <a:srgbClr val="C7772C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4D09C-B59D-4734-A223-54E8E236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Validate impact accuracy on client histories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9B0E3-E399-4FE7-9A6E-07E8ECF5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772C"/>
                </a:solidFill>
              </a:defRPr>
            </a:pPr>
            <a:r>
              <a:rPr sz="1125" b="1">
                <a:solidFill>
                  <a:srgbClr val="C7772C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B57A6-7900-4AEF-8350-5D608035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Add symbol-level and contract-aware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0548A-83F8-4B1E-9D86-F72FF681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03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772C"/>
                </a:solidFill>
              </a:defRPr>
            </a:pPr>
            <a:r>
              <a:rPr sz="1125" b="1">
                <a:solidFill>
                  <a:srgbClr val="C7772C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6DDE7E-F9C9-4A26-93F6-BC788F85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Introduce TestDataProvider fixture leases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D81061-D83B-43B5-8EF9-084EA43F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772C"/>
                </a:solidFill>
              </a:defRPr>
            </a:pPr>
            <a:r>
              <a:rPr sz="1125" b="1">
                <a:solidFill>
                  <a:srgbClr val="C7772C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81658-5D48-451F-8E63-D1240CCC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194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Add branch/statement and semantic side-effect coverage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5B5A4-64DE-4C52-987A-C0ECC3F1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772C"/>
                </a:solidFill>
              </a:defRPr>
            </a:pPr>
            <a:r>
              <a:rPr sz="1125" b="1">
                <a:solidFill>
                  <a:srgbClr val="C7772C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96B035-D29F-4CB4-82E1-F002BB2D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143"/>
                </a:solidFill>
              </a:defRPr>
            </a:pPr>
            <a:r>
              <a:rPr sz="1125" b="0">
                <a:solidFill>
                  <a:srgbClr val="233143"/>
                </a:solidFill>
              </a:rPr>
              <a:t>Make graph quality thresholds client-calibrated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F4C419-D313-47DE-AEB5-A0076C45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1068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490EE6-5F69-43E1-89DC-FE509D86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Standardize lifecycle contracts, trust boundaries and evidence semantics. Federate tools, models, policies and execution. Measure every inference.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7A5D21-1655-42D0-A165-41F18FBC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AGENTIC PDLC  •  UPDATED 24 AUG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7B86A-CD16-4B3F-9337-4FAA701B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17181"/>
                </a:solidFill>
              </a:defRPr>
            </a:pPr>
            <a:r>
              <a:rPr sz="675" b="1">
                <a:solidFill>
                  <a:srgbClr val="61718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6574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2026-08-25T01:25:35.2270000Z</dcterms:created>
  <dcterms:modified xsi:type="dcterms:W3CDTF">2026-08-25T01:25:35.2270000Z</dcterms:modified>
</coreProperties>
</file>